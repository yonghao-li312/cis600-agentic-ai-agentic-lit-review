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Agentic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Papers</c:v>
                  </c:pt>
                  <c:pt idx="1">
                    <c:v>Sources</c:v>
                  </c:pt>
                  <c:pt idx="2">
                    <c:v>Queries</c:v>
                  </c:pt>
                  <c:pt idx="3">
                    <c:v>Summaries</c:v>
                  </c:pt>
                  <c:pt idx="4">
                    <c:v>Themes</c:v>
                  </c:pt>
                  <c:pt idx="5">
                    <c:v>Gaps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</c:v>
                </c:pt>
                <c:pt idx="1">
                  <c:v>2</c:v>
                </c:pt>
                <c:pt idx="2">
                  <c:v>3</c:v>
                </c:pt>
                <c:pt idx="3">
                  <c:v>11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Papers</c:v>
                  </c:pt>
                  <c:pt idx="1">
                    <c:v>Sources</c:v>
                  </c:pt>
                  <c:pt idx="2">
                    <c:v>Queries</c:v>
                  </c:pt>
                  <c:pt idx="3">
                    <c:v>Summaries</c:v>
                  </c:pt>
                  <c:pt idx="4">
                    <c:v>Themes</c:v>
                  </c:pt>
                  <c:pt idx="5">
                    <c:v>Gaps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Applied Agentic AI System for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Literature Review &amp;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Path 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600 — Applied Agentic AI Systems  |  Spring 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Rajnish Sahani  ·  Deven Wagh  ·  Hangye Li  ·  Yonghao Li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Professor Kumarawadu  ·  Syracuse University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researchers face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papers published monthly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which paper to read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wasted on advanced papers without context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keyword search misses related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synthesis or gap identification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system does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multi-source paper retrieval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relevance screening (0–1 scores)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Cross-paper theme synthesis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identification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path: read this first, then this...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65760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51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53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LLM queries → arXiv + Semantic Scholar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57600" cy="685800"/>
          </a:xfrm>
          <a:prstGeom prst="rect">
            <a:avLst/>
          </a:prstGeom>
          <a:solidFill>
            <a:srgbClr val="E0E7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 Agent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scoring 0–1, filter &lt; 0.5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65760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+ 3–5 cross-paper themes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3657600" cy="685800"/>
          </a:xfrm>
          <a:prstGeom prst="rect">
            <a:avLst/>
          </a:prstGeom>
          <a:solidFill>
            <a:srgbClr val="FCE7F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+ Plan + Reading Order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1691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26060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3520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5A82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1920240"/>
            <a:ext cx="36576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Loop back if &lt; 3 papers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1005840"/>
            <a:ext cx="3474720" cy="34747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Design Decisions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15544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LangGraph StateGraph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TypedDict state across agents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 for feedback loop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initialized inside each function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Provider-agnostic: Gemini → Groq in 5 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 at every stage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Agent — Multi-Source Retrieval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research topic → Output: deduplicated paper list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3 diverse search queries from topic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sent to arXiv API + Semantic Scholar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papers per source per query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by title across all 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15–30 unique candidate papers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7490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"zero-shot learning"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92024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queries: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"zero shot learning AND deep learning"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"few shot learning OR meta learning"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"zero shot classification AND transfer learning"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17 unique papers from 2 sources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822960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tolerance: If Semantic Scholar returns 429, agent catches error and continues with arXiv only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 &amp; Synthesis Agents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6576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Screening Agent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title + abstract to LLM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relevance score: 0.0 – 1.0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below 0.5 filtered 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descending score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0.5 if LLM unparseable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 17 papers retained | Precision: 1.00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sentence summary per paper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summaries sent to LLM together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3–5 cross-paper themes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generic theme on parse failure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Themes: Zero-Shot Learning, Few-Shot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Meta-Learning, Deep Learning,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Agent &amp; Learning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feature: telling you which paper to read first and why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LLM call produces: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research gaps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research plan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reading order for ALL papers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321040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Order (zero-shot learning)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83280"/>
          <a:ext cx="7955280" cy="1463040"/>
        </p:xfrm>
        <a:graphic>
          <a:graphicData uri="http://schemas.openxmlformats.org/drawingml/2006/table">
            <a:tbl>
              <a:tblPr/>
              <a:tblGrid>
                <a:gridCol w="457200"/>
                <a:gridCol w="4572000"/>
                <a:gridCol w="2926080"/>
              </a:tblGrid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here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Survey (Knowledge Graphs)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Landscape overview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Deep Embedding Model (2016)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Core technique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Generalized Continual ZSL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Advanced extension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Meta Metric Learners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Related approach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...applications last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Domain-specific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Orchestration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LangGraph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Stateful cyclic graphs, conditional edges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LLM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Groq (Llama 3.3 70B)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Free tier, fast inference on LPU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Retrieval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arXiv + Semantic Scholar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Multi-source coverage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Framework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LangChain v0.3+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Prompt templates, chains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Python TypedDict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Type-safe, LangGraph native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Evaluation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Custom metrics.py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Tool, planning, retrieval metrics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749040"/>
            <a:ext cx="8046720" cy="10972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Provider Journey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(quota exhausted) → Llama 3.1 (deprecated) → Llama 3.3 (current)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switch: ~5 minutes, one line per agent file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Agentic vs. Baseline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Found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10 baseline)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914400"/>
            <a:ext cx="18288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960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46888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Screening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(65% retention)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914400"/>
            <a:ext cx="18288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960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48056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914400"/>
            <a:ext cx="1828800" cy="14630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960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492240" y="1737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Order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2651760"/>
          <a:ext cx="8229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(Week 9 Framework)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3716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1.00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Execution: 4/4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37160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7/7 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4/4 complete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023360" cy="1371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Metrics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1.00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65%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diversity: 0.31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560320"/>
            <a:ext cx="4023360" cy="13716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3063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55.6s total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calls: ~4 (1 per agent)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Time/paper: 3.27s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stages PASS across both topics (zero-shot learning + RLHF)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Path — 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Ordering Criteria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papers come first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concepts before extensions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seminal works before newer builds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before specialized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 from summaries + abstracts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931920" cy="2286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does this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Papers: citation only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Scholar: no ordering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Elicit: no cross-paper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concept-aware sequencing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321040" cy="12801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→ Foundational Technique → Extensions → Meta-Learning → Applications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automatically — no domain rules, no citation graph needed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32104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Gemini quota exhausted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System unusable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Switched to Groq in 5 min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Llama 3.1 deprecated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Model unavailable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Updated to 3.3 (one line)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Semantic Scholar 429s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Missing papers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Graceful arXiv fallback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 parse failures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Pipeline crash risk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Default values everywhere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LangChain v0.3 imports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Module errors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Updated to langchain_core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dotenv path issues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Key not found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find_dotenv() traversal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CIS 600 Course Alignment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32104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Week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Concept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We Used 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Week 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LLMs as Agents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Groq Llama 3.3 powers all four agents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Week 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LangGraph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StateGraph + conditional edges + orchestrator-workers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Week 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Agentic RAG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Multi-source retrieval + LLM screening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Week 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Tool Integration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arXiv + Semantic Scholar API wrappers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Week 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Evaluating Agents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Tool, planning, retrieval, efficiency metrics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rate limits (429s)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scores not human-validated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order = LLM reasoning only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Abstract-only (no full text)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LLM calls limits analysis depth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graph for robust ordering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full-text analysis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Streamlit/Gradio web UI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studies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screening model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"zero-shot learning" → full pipeline in ~55 seconds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Multi-agent system that works end-to-end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 agents + orchestrator + adaptive feedback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Learning path is the novel contribution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 existing tool sequences papers by concept dependency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Provider-agnostic architecture proved its value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Gemini → Groq in 5 min, zero architectural changes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Fault tolerance everywhere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100% pipeline completion despite API errors &amp; parse failures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github.com/rajnishsahani/Agentic-lit-review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Rajnish  ·  Deven  ·  Hangye  ·  Yonghao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Literature Review &amp; Learning Path Recommendation</dc:title>
  <dc:subject>PptxGenJS Presentation</dc:subject>
  <dc:creator>Rajnish Sahani</dc:creator>
  <cp:lastModifiedBy>Rajnish Sahani</cp:lastModifiedBy>
  <cp:revision>1</cp:revision>
  <dcterms:created xsi:type="dcterms:W3CDTF">2026-04-15T21:02:18Z</dcterms:created>
  <dcterms:modified xsi:type="dcterms:W3CDTF">2026-04-15T21:02:18Z</dcterms:modified>
</cp:coreProperties>
</file>