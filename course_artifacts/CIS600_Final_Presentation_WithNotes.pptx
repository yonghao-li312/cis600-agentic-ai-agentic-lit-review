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RAJNISH — opens the presentation]</a:t>
            </a:r>
          </a:p>
          <a:p>
            <a:r>
              <a:rPr lang="en-US" dirty="0"/>
              <a:t>Good morning/afternoon everyone, and thank you Professor Kumarawadu for the opportunity to present our final project.</a:t>
            </a:r>
          </a:p>
          <a:p>
            <a:r>
              <a:rPr lang="en-US" dirty="0"/>
              <a:t>My name is Rajnish Sahani, and together with my teammates Deven Wagh, Hangye Li, and Yonghao Li, we have built an applied agentic AI system that autonomously conducts academic literature reviews and generates a recommended reading order — so you know which paper to start with and why.</a:t>
            </a:r>
          </a:p>
          <a:p>
            <a:r>
              <a:rPr lang="en-US" dirty="0"/>
              <a:t>We call this the Agentic Literature Review system. The entire codebase is open-source on GitHub at github.com/rajnishsahani/Agentic-lit-review.</a:t>
            </a:r>
          </a:p>
          <a:p>
            <a:r>
              <a:rPr lang="en-US" dirty="0"/>
              <a:t>Here is how we will divide the presentation: I will cover the problem motivation and system architecture. Deven will walk through the Search Agent and the Screening and Synthesis agents. Hangye will cover the Planning Agent and the learning path feature. Yonghao will present our technology stack, results, evaluation metrics, challenges, course alignment, and future work. Let us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RAJNISH]</a:t>
            </a:r>
          </a:p>
          <a:p>
            <a:r>
              <a:rPr lang="en-US" dirty="0"/>
              <a:t>Let me set the stage with the problem we are addressing.</a:t>
            </a:r>
          </a:p>
          <a:p>
            <a:r>
              <a:rPr lang="en-US" dirty="0"/>
              <a:t>If you are a graduate student entering a new research area — say zero-shot learning — you go to arXiv, type in a keyword, and you get back maybe 10 or 15 papers. But here is the issue: you have no idea which one to read first. Should you start with the 2023 paper that has the newest results? Or the 2016 paper that introduced the foundational technique? You do not know, so you pick one at random. If it is too advanced, you waste an hour and then realize you needed to read the survey first.</a:t>
            </a:r>
          </a:p>
          <a:p>
            <a:r>
              <a:rPr lang="en-US" dirty="0"/>
              <a:t>This is the reading order problem, and no existing tool solves it. Semantic Scholar gives you recommendations but no ordering. Connected Papers shows citation graphs but does not tell you where to start. Elicit extracts information from individual papers but does not do cross-paper synthesis.</a:t>
            </a:r>
          </a:p>
          <a:p>
            <a:r>
              <a:rPr lang="en-US" dirty="0"/>
              <a:t>On the left side of this slide, you can see the five core challenges researchers face: information overload, no pedagogical ordering, wasted time on out-of-sequence reading, limitations of keyword search, and no automated synthesis.</a:t>
            </a:r>
          </a:p>
          <a:p>
            <a:r>
              <a:rPr lang="en-US" dirty="0"/>
              <a:t>On the right side, you can see what our system delivers: it retrieves papers from multiple sources, screens them for relevance, synthesizes themes across papers, identifies gaps in the literature, and — most importantly — it produces a recommended reading order that tells you which paper to start with and why.</a:t>
            </a:r>
          </a:p>
          <a:p>
            <a:r>
              <a:rPr lang="en-US" dirty="0"/>
              <a:t>The reading order is our primary novel contribution. Let me now show you how the system is architected.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RAJNISH]</a:t>
            </a:r>
          </a:p>
          <a:p>
            <a:r>
              <a:rPr lang="en-US" dirty="0"/>
              <a:t>Here is the overall architecture. The system is built on LangGraph, which allows us to define a stateful directed graph where each node is an agent and edges define the flow between them.</a:t>
            </a:r>
          </a:p>
          <a:p>
            <a:r>
              <a:rPr lang="en-US" dirty="0"/>
              <a:t>On the left, you can see the four agents in sequence. The Search Agent takes the user's research topic, uses the LLM to generate three diverse search queries, and sends each query to both arXiv and Semantic Scholar. The Screening Agent then scores every retrieved paper for relevance on a 0-to-1 scale using the LLM — papers below 0.5 are filtered out. The Synthesis Agent generates summaries for each retained paper and identifies cross-cutting themes. Finally, the Planning Agent produces research gaps, a structured research plan, and the recommended reading order.</a:t>
            </a:r>
          </a:p>
          <a:p>
            <a:r>
              <a:rPr lang="en-US" dirty="0"/>
              <a:t>There is also an adaptive feedback loop. If the Screening Agent filters out too many papers and fewer than three remain, the system loops back to the Search Agent to try again with different queries. This is a core agentic behavior: the system evaluates its own intermediate output and adapts its strategy.</a:t>
            </a:r>
          </a:p>
          <a:p>
            <a:r>
              <a:rPr lang="en-US" dirty="0"/>
              <a:t>On the right, you can see the key design decisions. We use a shared TypedDict state that all agents read from and write to, giving full transparency. A critical decision was initializing the LLM inside each agent function rather than at module import time. This ensures environment variables are loaded first and makes the system provider-agnostic: when we had to switch from Gemini to Groq, it took about five minutes and one line change per agent file.</a:t>
            </a:r>
          </a:p>
          <a:p>
            <a:r>
              <a:rPr lang="en-US" dirty="0"/>
              <a:t>Now I will hand off to Deven, who will walk through the Search Agent and the Screening and Synthesis agents in detail.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DEVEN]</a:t>
            </a:r>
          </a:p>
          <a:p>
            <a:r>
              <a:rPr lang="en-US" dirty="0"/>
              <a:t>Thank you, Rajnish. The Search Agent is the entry point of our pipeline. It takes the research topic and produces a deduplicated list of candidate papers from multiple academic sources.</a:t>
            </a:r>
          </a:p>
          <a:p>
            <a:r>
              <a:rPr lang="en-US" dirty="0"/>
              <a:t>Here is how it works step by step. First, the LLM generates three diverse search queries from the topic. This is a key design choice inspired by the ReAct pattern from Week 4: reason about what queries would cover different aspects of the topic before executing the search.</a:t>
            </a:r>
          </a:p>
          <a:p>
            <a:r>
              <a:rPr lang="en-US" dirty="0"/>
              <a:t>For example, for "zero-shot learning," the LLM generates: "zero shot learning AND deep learning," "few shot learning OR meta learning," and "zero shot classification AND transfer learning." These three queries surface different subsets of the literature that a single query would miss.</a:t>
            </a:r>
          </a:p>
          <a:p>
            <a:r>
              <a:rPr lang="en-US" dirty="0"/>
              <a:t>Each query is sent to both the arXiv API — using the official Python client — and the Semantic Scholar API, which uses a custom REST wrapper that Yonghao built. We retrieve up to 5 papers per source per query, giving a potential maximum of 30 raw papers. After deduplication by title, we typically end up with 15 to 17 unique papers.</a:t>
            </a:r>
          </a:p>
          <a:p>
            <a:r>
              <a:rPr lang="en-US" dirty="0"/>
              <a:t>An important engineering detail is fault tolerance. The Semantic Scholar free-tier API has aggressive rate limits and frequently returns 429 Too Many Requests errors. When this happens, the agent catches the exception, logs the error to the shared state, and continues with arXiv results only. The pipeline never crashes due to a single API failure. In our zero-shot learning run, we successfully retrieved 17 papers from both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DEVEN]</a:t>
            </a:r>
          </a:p>
          <a:p>
            <a:r>
              <a:rPr lang="en-US" dirty="0"/>
              <a:t>Now let me walk through the Screening and Synthesis agents.</a:t>
            </a:r>
          </a:p>
          <a:p>
            <a:r>
              <a:rPr lang="en-US" dirty="0"/>
              <a:t>Starting with Screening: after the Search Agent retrieves papers, the Screening Agent evaluates each one for topical relevance. For every paper, it sends the title and a 500-character excerpt of the abstract to the LLM along with a prompt requesting a relevance score between 0.0 and 1.0. Papers scoring below 0.5 are filtered out, and the remaining papers are sorted by descending relevance score.</a:t>
            </a:r>
          </a:p>
          <a:p>
            <a:r>
              <a:rPr lang="en-US" dirty="0"/>
              <a:t>We use LLM-based semantic scoring rather than keyword matching. This is important because research topics often span multiple subfields where different terminology is used. Keyword matching would miss conceptually related papers; semantic scoring catches them.</a:t>
            </a:r>
          </a:p>
          <a:p>
            <a:r>
              <a:rPr lang="en-US" dirty="0"/>
              <a:t>We process all papers in a single batched LLM call to minimize API usage. If the LLM returns a score that cannot be parsed as a float, we assign a default score of 0.5 — a conservative fallback that retains borderline papers rather than discarding them.</a:t>
            </a:r>
          </a:p>
          <a:p>
            <a:r>
              <a:rPr lang="en-US" dirty="0"/>
              <a:t>For zero-shot learning: out of 17 retrieved papers, 11 were retained with a mean relevance score of 0.77 and screening precision of 1.00.</a:t>
            </a:r>
          </a:p>
          <a:p>
            <a:r>
              <a:rPr lang="en-US" dirty="0"/>
              <a:t>The Synthesis Agent then performs two tasks. First, it generates a 2-to-3 sentence summary per paper. Second, all summaries are sent together to the LLM to identify 3-to-5 cross-cutting themes. For zero-shot learning, the system found five themes: Zero-Shot Learning, Few-Shot Learning, Meta-Learning, Deep Learning, and Knowledge Transfer. If the LLM returns unparseable output, the agent substitutes a generic theme rather than crashing.</a:t>
            </a:r>
          </a:p>
          <a:p>
            <a:r>
              <a:rPr lang="en-US" dirty="0"/>
              <a:t>Now I will hand off to Hangye for the Planning Agent and reading order.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HANGYE]</a:t>
            </a:r>
          </a:p>
          <a:p>
            <a:r>
              <a:rPr lang="en-US" dirty="0"/>
              <a:t>Thank you, Deven. The Planning Agent is the final and most complex agent in our pipeline. It takes all the information produced by previous agents — the screened papers, their summaries, the identified themes — and produces three outputs through a single structured LLM call.</a:t>
            </a:r>
          </a:p>
          <a:p>
            <a:r>
              <a:rPr lang="en-US" dirty="0"/>
              <a:t>First, it identifies 3 to 5 research gaps: areas not well-addressed by the existing literature. Second, it generates a structured research plan with proposed questions, methodology, and evaluation strategy. Third — and this is our primary novel contribution — it produces a recommended reading order for ALL screened papers.</a:t>
            </a:r>
          </a:p>
          <a:p>
            <a:r>
              <a:rPr lang="en-US" dirty="0"/>
              <a:t>The reading order is what makes this system unique. No existing tool attempts to tell you which paper to read first. The LLM is prompted to sequence papers from foundational to advanced based on four criteria: survey papers come first for landscape context; papers introducing key concepts precede papers that build on them; older seminal works come before newer extensions; and general papers precede domain-specific applications.</a:t>
            </a:r>
          </a:p>
          <a:p>
            <a:r>
              <a:rPr lang="en-US" dirty="0"/>
              <a:t>On the right, you can see the actual output for zero-shot learning. The system correctly placed a comprehensive survey paper first, then a foundational deep embedding model paper from 2016, then more recent extensions, and domain-specific application papers last. This is exactly the order a domain expert would recommend.</a:t>
            </a:r>
          </a:p>
          <a:p>
            <a:r>
              <a:rPr lang="en-US" dirty="0"/>
              <a:t>What makes this approach powerful is that it works without domain-specific programming and without needing a citation graph. The LLM reasons about concept dependencies purely from the summaries and abstracts provided in the prompt context.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Thank you, Hangye. Let me walk through our technology stack.</a:t>
            </a:r>
          </a:p>
          <a:p>
            <a:r>
              <a:rPr lang="en-US" dirty="0"/>
              <a:t>LangGraph is our orchestration framework, chosen for its native support for stateful cyclic graphs, shared state management, and conditional routing — all essential for our adaptive feedback loop.</a:t>
            </a:r>
          </a:p>
          <a:p>
            <a:r>
              <a:rPr lang="en-US" dirty="0"/>
              <a:t>For the LLM, we use Groq with Llama 3.3 70B Versatile. Groq provides extremely fast inference using custom LPU hardware — tokens are generated at hundreds of tokens per second. The free tier has generous rate limits sufficient for our workload.</a:t>
            </a:r>
          </a:p>
          <a:p>
            <a:r>
              <a:rPr lang="en-US" dirty="0"/>
              <a:t>For paper retrieval, we use two sources: arXiv, which requires no authentication, and Semantic Scholar with a custom REST wrapper. Using two sources gives broader coverage.</a:t>
            </a:r>
          </a:p>
          <a:p>
            <a:r>
              <a:rPr lang="en-US" dirty="0"/>
              <a:t>The bottom of this slide shows our LLM provider journey, which validates our provider-agnostic design. We started with Google Gemini 2.0 Flash, but the free-tier quota was exhausted during development because multi-agent systems make many LLM calls during debugging. We switched to Groq, but then Groq deprecated Llama 3.1, so we updated to Llama 3.3. Each switch took about 5 minutes and one line per agent file — a direct validation of initializing the LLM inside each agent function.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Here are our headline results for the zero-shot learning topic.</a:t>
            </a:r>
          </a:p>
          <a:p>
            <a:r>
              <a:rPr lang="en-US" dirty="0"/>
              <a:t>The four big numbers tell the story: 17 papers found from two sources using three LLM-generated queries — compared to just 10 from the baseline's single arXiv keyword search. That is a 70% improvement in retrieval coverage. After screening, 11 papers were retained with a 65% retention rate, meaning screening is doing real filtering work. The system identified 5 cross-cutting themes and produced a complete 11-paper reading order.</a:t>
            </a:r>
          </a:p>
          <a:p>
            <a:r>
              <a:rPr lang="en-US" dirty="0"/>
              <a:t>The baseline represents what a student would get by typing "zero-shot learning" into arXiv: 10 unfiltered papers from a single source with no LLM involvement. No summaries, no themes, no gaps, no reading order. The only advantage of the baseline is speed: 1.6 seconds versus our 55.6 seconds.</a:t>
            </a:r>
          </a:p>
          <a:p>
            <a:r>
              <a:rPr lang="en-US" dirty="0"/>
              <a:t>But that 54-second difference is reasonable. About 30 seconds is rate-limit delays we deliberately insert between agent calls. The rest is LLM inference time and API round trips. For a task that would take a human researcher hours, 55 seconds is effectively instantaneous.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Our evaluation framework is aligned with the Week 9 course material on evaluating agentic AI systems. We measure four categories of metrics.</a:t>
            </a:r>
          </a:p>
          <a:p>
            <a:r>
              <a:rPr lang="en-US" dirty="0"/>
              <a:t>Tool Metrics: tool selection accuracy was 1.00 — the correct tool was selected at every pipeline stage. Tool execution success was 4 out of 4 — all agents completed without failure.</a:t>
            </a:r>
          </a:p>
          <a:p>
            <a:r>
              <a:rPr lang="en-US" dirty="0"/>
              <a:t>Planning Metrics: step success rate was 7 out of 7 — all pipeline stages completed successfully: query generation, paper retrieval, relevance screening, summarization, theme identification, gap analysis, and research plan generation. Task completion was 4 out of 4.</a:t>
            </a:r>
          </a:p>
          <a:p>
            <a:r>
              <a:rPr lang="en-US" dirty="0"/>
              <a:t>Retrieval Metrics: screening precision was 1.00, meaning all retained papers scored at or above threshold. Coverage was 65%. Source diversity was 0.31, lower than ideal because Semantic Scholar rate limits meant arXiv was the primary source in some runs.</a:t>
            </a:r>
          </a:p>
          <a:p>
            <a:r>
              <a:rPr lang="en-US" dirty="0"/>
              <a:t>Efficiency Metrics: total time was 55.6 seconds with approximately 4 LLM API calls — one per agent with batched processing. Time per paper was 3.27 seconds.</a:t>
            </a:r>
          </a:p>
          <a:p>
            <a:r>
              <a:rPr lang="en-US" dirty="0"/>
              <a:t>All stages passed across both evaluation topics — zero-shot learning and RLHF.</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HANGYE]</a:t>
            </a:r>
          </a:p>
          <a:p>
            <a:r>
              <a:rPr lang="en-US" dirty="0"/>
              <a:t>This slide goes deeper into how the learning path works and why it matters.</a:t>
            </a:r>
          </a:p>
          <a:p>
            <a:r>
              <a:rPr lang="en-US" dirty="0"/>
              <a:t>On the left, you can see the ordering criteria. The LLM is instructed to place survey papers first so the reader gets landscape context and key terminology. Then foundational concept papers come next so the reader understands the core techniques. Older seminal works precede newer builds on those concepts. And general papers come before specialized domain applications.</a:t>
            </a:r>
          </a:p>
          <a:p>
            <a:r>
              <a:rPr lang="en-US" dirty="0"/>
              <a:t>The key insight is that the LLM reasons about these ordering criteria from the summaries and abstracts — it does not need access to a citation graph, which may not exist for recent preprints.</a:t>
            </a:r>
          </a:p>
          <a:p>
            <a:r>
              <a:rPr lang="en-US" dirty="0"/>
              <a:t>On the right, I want to emphasize why this matters by comparing to existing tools. Connected Papers shows citation relationships but does not sequence them for reading. Semantic Scholar recommends papers but does not order them pedagogically. Elicit extracts information but operates on individual papers, not across collections. Our system provides concept-aware sequencing that none of these tools offer.</a:t>
            </a:r>
          </a:p>
          <a:p>
            <a:r>
              <a:rPr lang="en-US" dirty="0"/>
              <a:t>The flow at the bottom — Survey, Foundational Technique, Extensions, Meta-Learning, Applications — is produced automatically with no domain-specific rules and no citation graph needed.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This table summarizes the major challenges we faced during development and how we resolved them.</a:t>
            </a:r>
          </a:p>
          <a:p>
            <a:r>
              <a:rPr lang="en-US" dirty="0"/>
              <a:t>The first two rows illustrate why provider-agnostic architecture matters. When Gemini's free-tier quota was exhausted during debugging, we switched to Groq in about five minutes. Then when Groq deprecated Llama 3.1 overnight, we updated to Llama 3.3 by changing one line per agent file. Both would have been project-stopping events without the provider-agnostic design.</a:t>
            </a:r>
          </a:p>
          <a:p>
            <a:r>
              <a:rPr lang="en-US" dirty="0"/>
              <a:t>Semantic Scholar 429 rate limit errors were recurring. The Search Agent catches the exception and continues with arXiv-only results. Source diversity suffers, but the pipeline always produces output.</a:t>
            </a:r>
          </a:p>
          <a:p>
            <a:r>
              <a:rPr lang="en-US" dirty="0"/>
              <a:t>LLM parse failures affected about 5 to 10 percent of individual LLM calls — for example, the screening agent might get a relevance score wrapped in explanation text. We handle every case with conservative defaults: unparseable scores default to 0.5, unparseable theme lists default to a generic theme. The result: 100% pipeline completion across all test runs despite individual call failures.</a:t>
            </a:r>
          </a:p>
          <a:p>
            <a:r>
              <a:rPr lang="en-US" dirty="0"/>
              <a:t>The dotenv issue is worth mentioning — bare load_dotenv() sometimes failed to find the .env file, but load_dotenv(find_dotenv()) with directory traversal reliably locates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This slide shows how our project maps to the CIS 600 course material.</a:t>
            </a:r>
          </a:p>
          <a:p>
            <a:r>
              <a:rPr lang="en-US" dirty="0"/>
              <a:t>From Week 2, we use LLMs as the reasoning engine powering all four agents — Groq Llama 3.3 for all decision-making.</a:t>
            </a:r>
          </a:p>
          <a:p>
            <a:r>
              <a:rPr lang="en-US" dirty="0"/>
              <a:t>From Week 4, our entire architecture is a LangGraph StateGraph with conditional edges and the orchestrator-workers pattern. The orchestrator manages the workflow while specialized worker agents handle individual tasks.</a:t>
            </a:r>
          </a:p>
          <a:p>
            <a:r>
              <a:rPr lang="en-US" dirty="0"/>
              <a:t>From Week 5, our retrieval and screening pipeline implements agentic RAG principles — querying external knowledge sources and filtering results before passing them to downstream reasoning.</a:t>
            </a:r>
          </a:p>
          <a:p>
            <a:r>
              <a:rPr lang="en-US" dirty="0"/>
              <a:t>From Week 7, our tool integration follows the principles discussed in the MCP lecture. Although we use direct API wrappers rather than MCP servers, the design pattern of agents using external tools is the same.</a:t>
            </a:r>
          </a:p>
          <a:p>
            <a:r>
              <a:rPr lang="en-US" dirty="0"/>
              <a:t>From Week 9, our entire evaluation framework — tool metrics, planning metrics, retrieval metrics, efficiency metrics — is aligned with the framework for evaluating agentic AI systems studied in class.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YONGHAO]</a:t>
            </a:r>
          </a:p>
          <a:p>
            <a:r>
              <a:rPr lang="en-US" dirty="0"/>
              <a:t>Let me be transparent about our limitations.</a:t>
            </a:r>
          </a:p>
          <a:p>
            <a:r>
              <a:rPr lang="en-US" dirty="0"/>
              <a:t>The Semantic Scholar free API has aggressive rate limits, resulting in degraded source diversity during some runs. Obtaining an API key would resolve this but involves a manual approval process.</a:t>
            </a:r>
          </a:p>
          <a:p>
            <a:r>
              <a:rPr lang="en-US" dirty="0"/>
              <a:t>Our relevance scores are LLM-generated and have not been validated against human judgments at scale. The 1.00 screening precision is encouraging but does not prove the scores are well-calibrated in absolute terms.</a:t>
            </a:r>
          </a:p>
          <a:p>
            <a:r>
              <a:rPr lang="en-US" dirty="0"/>
              <a:t>The reading order relies entirely on LLM reasoning about concept dependencies. Citation graph analysis could provide a more robust signal, especially for established papers with rich citation networks.</a:t>
            </a:r>
          </a:p>
          <a:p>
            <a:r>
              <a:rPr lang="en-US" dirty="0"/>
              <a:t>We only process abstracts, not full text, which constrains summary quality and thematic depth. And batching everything into about 4 LLM calls limits per-paper analysis depth.</a:t>
            </a:r>
          </a:p>
          <a:p>
            <a:r>
              <a:rPr lang="en-US" dirty="0"/>
              <a:t>For future work: citation graph analysis from Semantic Scholar's citation data would strengthen the reading order. PDF full-text analysis would improve summary quality. A Streamlit or Gradio web interface would make the system accessible to non-technical users. Human evaluation studies would validate our scoring. And a fine-tuned screening model could provide calibrated relevance scores.</a:t>
            </a:r>
          </a:p>
          <a:p>
            <a:r>
              <a:rPr lang="en-US" dirty="0"/>
              <a:t>Now let me hand it back to Rajnish for the demo and closing.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RAJNISH]</a:t>
            </a:r>
          </a:p>
          <a:p>
            <a:r>
              <a:rPr lang="en-US" dirty="0"/>
              <a:t>Now we will run a live demo. I am going to run python main.py with the topic "zero-shot learning" and you will see the full pipeline execute in about 55 seconds.</a:t>
            </a:r>
          </a:p>
          <a:p>
            <a:r>
              <a:rPr lang="en-US" dirty="0"/>
              <a:t>Watch for each agent stage as it completes — you will see the search queries being generated, papers being retrieved, screening scores being assigned, summaries being generated, themes being identified, and finally the reading order being produced.</a:t>
            </a:r>
          </a:p>
          <a:p>
            <a:r>
              <a:rPr lang="en-US" dirty="0"/>
              <a:t>If any API errors occur during the demo, that actually demonstrates exactly the fault tolerance we discussed — the system handles failures gracefully and continues to produce output.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RAJNISH]</a:t>
            </a:r>
          </a:p>
          <a:p>
            <a:r>
              <a:rPr lang="en-US" dirty="0"/>
              <a:t>Let me summarize our four key takeaways.</a:t>
            </a:r>
          </a:p>
          <a:p>
            <a:r>
              <a:rPr lang="en-US" dirty="0"/>
              <a:t>First, we built a multi-agent system that works end-to-end. Four specialized agents coordinated by a LangGraph orchestrator with an adaptive feedback loop. 100% pipeline completion across all runs.</a:t>
            </a:r>
          </a:p>
          <a:p>
            <a:r>
              <a:rPr lang="en-US" dirty="0"/>
              <a:t>Second, the learning path is our primary novel contribution. No existing literature review tool — not Semantic Scholar, not Connected Papers, not Elicit — attempts to tell you which paper to read first and why. Our system reasons about concept dependencies to produce a pedagogically sound reading sequence.</a:t>
            </a:r>
          </a:p>
          <a:p>
            <a:r>
              <a:rPr lang="en-US" dirty="0"/>
              <a:t>Third, the provider-agnostic architecture proved its value in practice. We were forced to switch LLM providers twice during development, and each time it took about five minutes with one line change per agent file.</a:t>
            </a:r>
          </a:p>
          <a:p>
            <a:r>
              <a:rPr lang="en-US" dirty="0"/>
              <a:t>Fourth, fault tolerance everywhere. Parse failures occurred in 5 to 10 percent of individual LLM calls, but the pipeline completed successfully in 100 percent of runs. Every agent has a graceful fallback — partial output is always better than no output.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ALL — stand for Q&amp;A]</a:t>
            </a:r>
          </a:p>
          <a:p>
            <a:r>
              <a:rPr lang="en-US" dirty="0"/>
              <a:t>Thank you for listening to our presentation. We are happy to answer any questions about the system architecture, our design decisions, the evaluation framework, or the reading order feature.</a:t>
            </a:r>
          </a:p>
          <a:p>
            <a:r>
              <a:rPr lang="en-US" dirty="0"/>
              <a:t>The full codebase is open-source on GitHub at the link shown on screen.</a:t>
            </a:r>
          </a:p>
          <a:p>
            <a:r>
              <a:rPr lang="en-US" dirty="0"/>
              <a:t>Speaker division summary:</a:t>
            </a:r>
          </a:p>
          <a:p>
            <a:r>
              <a:rPr lang="en-US" dirty="0"/>
              <a:t>- Rajnish: Slides 1-3 (intro, problem, architecture), 14-16 (demo, takeaways, closing)</a:t>
            </a:r>
          </a:p>
          <a:p>
            <a:r>
              <a:rPr lang="en-US" dirty="0"/>
              <a:t>- Deven: Slides 4-5 (Search Agent, Screening and Synthesis agents)</a:t>
            </a:r>
          </a:p>
          <a:p>
            <a:r>
              <a:rPr lang="en-US" dirty="0"/>
              <a:t>- Hangye: Slides 6, 10 (Planning Agent and learning path, how learning path works)</a:t>
            </a:r>
          </a:p>
          <a:p>
            <a:r>
              <a:rPr lang="en-US" dirty="0"/>
              <a:t>- Yonghao: Slides 7-9, 11-13 (tech stack, results, metrics, challenges, course alignment, limitations)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731520"/>
            <a:ext cx="7680960" cy="2194560"/>
          </a:xfrm>
          <a:prstGeom prst="rect">
            <a:avLst/>
          </a:prstGeom>
          <a:noFill/>
          <a:ln/>
        </p:spPr>
        <p:txBody>
          <a:bodyPr wrap="square" rtlCol="0" anchor="ctr"/>
          <a:lstStyle/>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An Applied Agentic AI System for</a:t>
            </a:r>
            <a:endParaRPr lang="en-US" sz="3200" dirty="0"/>
          </a:p>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Autonomous Literature Review &amp;</a:t>
            </a:r>
            <a:endParaRPr lang="en-US" sz="3200" dirty="0"/>
          </a:p>
          <a:p>
            <a:pPr indent="0" marL="0">
              <a:lnSpc>
                <a:spcPct val="120000"/>
              </a:lnSpc>
              <a:buNone/>
            </a:pPr>
            <a:r>
              <a:rPr lang="en-US" sz="3200" b="1" dirty="0">
                <a:solidFill>
                  <a:srgbClr val="FFFFFF"/>
                </a:solidFill>
                <a:latin typeface="Georgia" pitchFamily="34" charset="0"/>
                <a:ea typeface="Georgia" pitchFamily="34" charset="-122"/>
                <a:cs typeface="Georgia" pitchFamily="34" charset="-120"/>
              </a:rPr>
              <a:t>Learning Path Recommendation</a:t>
            </a:r>
            <a:endParaRPr lang="en-US" sz="3200" dirty="0"/>
          </a:p>
        </p:txBody>
      </p:sp>
      <p:sp>
        <p:nvSpPr>
          <p:cNvPr id="3" name="Text 1"/>
          <p:cNvSpPr/>
          <p:nvPr/>
        </p:nvSpPr>
        <p:spPr>
          <a:xfrm>
            <a:off x="731520" y="3108960"/>
            <a:ext cx="7315200" cy="45720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CIS 600 — Applied Agentic AI Systems  |  Spring 2026</a:t>
            </a:r>
            <a:endParaRPr lang="en-US" sz="1400" dirty="0"/>
          </a:p>
        </p:txBody>
      </p:sp>
      <p:sp>
        <p:nvSpPr>
          <p:cNvPr id="4" name="Text 2"/>
          <p:cNvSpPr/>
          <p:nvPr/>
        </p:nvSpPr>
        <p:spPr>
          <a:xfrm>
            <a:off x="731520" y="3657600"/>
            <a:ext cx="7315200" cy="45720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Rajnish Sahani  ·  Deven Wagh  ·  Hangye Li  ·  Yonghao Li</a:t>
            </a:r>
            <a:endParaRPr lang="en-US" sz="1600" dirty="0"/>
          </a:p>
        </p:txBody>
      </p:sp>
      <p:sp>
        <p:nvSpPr>
          <p:cNvPr id="5" name="Text 3"/>
          <p:cNvSpPr/>
          <p:nvPr/>
        </p:nvSpPr>
        <p:spPr>
          <a:xfrm>
            <a:off x="731520" y="4206240"/>
            <a:ext cx="7315200" cy="36576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Instructor: Professor Kumarawadu  ·  Syracuse University  ·  April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The Problem</a:t>
            </a:r>
            <a:endParaRPr lang="en-US" sz="2400" dirty="0"/>
          </a:p>
        </p:txBody>
      </p:sp>
      <p:sp>
        <p:nvSpPr>
          <p:cNvPr id="3" name="Shape 1"/>
          <p:cNvSpPr/>
          <p:nvPr/>
        </p:nvSpPr>
        <p:spPr>
          <a:xfrm>
            <a:off x="457200" y="1005840"/>
            <a:ext cx="3931920" cy="3474720"/>
          </a:xfrm>
          <a:prstGeom prst="rect">
            <a:avLst/>
          </a:prstGeom>
          <a:solidFill>
            <a:srgbClr val="FEF2F2"/>
          </a:solidFill>
          <a:ln w="12700">
            <a:solidFill>
              <a:srgbClr val="FECACA"/>
            </a:solidFill>
            <a:prstDash val="solid"/>
          </a:ln>
        </p:spPr>
      </p:sp>
      <p:sp>
        <p:nvSpPr>
          <p:cNvPr id="4" name="Text 2"/>
          <p:cNvSpPr/>
          <p:nvPr/>
        </p:nvSpPr>
        <p:spPr>
          <a:xfrm>
            <a:off x="640080" y="1051560"/>
            <a:ext cx="3657600" cy="365760"/>
          </a:xfrm>
          <a:prstGeom prst="rect">
            <a:avLst/>
          </a:prstGeom>
          <a:noFill/>
          <a:ln/>
        </p:spPr>
        <p:txBody>
          <a:bodyPr wrap="square" rtlCol="0" anchor="ctr"/>
          <a:lstStyle/>
          <a:p>
            <a:pPr indent="0" marL="0">
              <a:buNone/>
            </a:pPr>
            <a:r>
              <a:rPr lang="en-US" sz="1600" b="1" dirty="0">
                <a:solidFill>
                  <a:srgbClr val="DC2626"/>
                </a:solidFill>
                <a:latin typeface="Georgia" pitchFamily="34" charset="0"/>
                <a:ea typeface="Georgia" pitchFamily="34" charset="-122"/>
                <a:cs typeface="Georgia" pitchFamily="34" charset="-120"/>
              </a:rPr>
              <a:t>What researchers face today</a:t>
            </a:r>
            <a:endParaRPr lang="en-US" sz="1600" dirty="0"/>
          </a:p>
        </p:txBody>
      </p:sp>
      <p:sp>
        <p:nvSpPr>
          <p:cNvPr id="5" name="Text 3"/>
          <p:cNvSpPr/>
          <p:nvPr/>
        </p:nvSpPr>
        <p:spPr>
          <a:xfrm>
            <a:off x="640080" y="1554480"/>
            <a:ext cx="3566160" cy="274320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Thousands of papers published monthly</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No way to know which paper to read FIRST</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Hours wasted on advanced papers without context</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Manual keyword search misses related work</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No automated synthesis or gap identification</a:t>
            </a:r>
            <a:endParaRPr lang="en-US" sz="1400" dirty="0"/>
          </a:p>
        </p:txBody>
      </p:sp>
      <p:sp>
        <p:nvSpPr>
          <p:cNvPr id="6" name="Shape 4"/>
          <p:cNvSpPr/>
          <p:nvPr/>
        </p:nvSpPr>
        <p:spPr>
          <a:xfrm>
            <a:off x="4754880" y="1005840"/>
            <a:ext cx="3931920" cy="3474720"/>
          </a:xfrm>
          <a:prstGeom prst="rect">
            <a:avLst/>
          </a:prstGeom>
          <a:solidFill>
            <a:srgbClr val="F0FDF4"/>
          </a:solidFill>
          <a:ln w="12700">
            <a:solidFill>
              <a:srgbClr val="BBF7D0"/>
            </a:solidFill>
            <a:prstDash val="solid"/>
          </a:ln>
        </p:spPr>
      </p:sp>
      <p:sp>
        <p:nvSpPr>
          <p:cNvPr id="7" name="Text 5"/>
          <p:cNvSpPr/>
          <p:nvPr/>
        </p:nvSpPr>
        <p:spPr>
          <a:xfrm>
            <a:off x="4937760" y="1051560"/>
            <a:ext cx="3657600" cy="365760"/>
          </a:xfrm>
          <a:prstGeom prst="rect">
            <a:avLst/>
          </a:prstGeom>
          <a:noFill/>
          <a:ln/>
        </p:spPr>
        <p:txBody>
          <a:bodyPr wrap="square" rtlCol="0" anchor="ctr"/>
          <a:lstStyle/>
          <a:p>
            <a:pPr indent="0" marL="0">
              <a:buNone/>
            </a:pPr>
            <a:r>
              <a:rPr lang="en-US" sz="1600" b="1" dirty="0">
                <a:solidFill>
                  <a:srgbClr val="059669"/>
                </a:solidFill>
                <a:latin typeface="Georgia" pitchFamily="34" charset="0"/>
                <a:ea typeface="Georgia" pitchFamily="34" charset="-122"/>
                <a:cs typeface="Georgia" pitchFamily="34" charset="-120"/>
              </a:rPr>
              <a:t>What our system does</a:t>
            </a:r>
            <a:endParaRPr lang="en-US" sz="1600" dirty="0"/>
          </a:p>
        </p:txBody>
      </p:sp>
      <p:sp>
        <p:nvSpPr>
          <p:cNvPr id="8" name="Text 6"/>
          <p:cNvSpPr/>
          <p:nvPr/>
        </p:nvSpPr>
        <p:spPr>
          <a:xfrm>
            <a:off x="4937760" y="1554480"/>
            <a:ext cx="3566160" cy="274320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Autonomous multi-source paper retrieval</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LLM-based relevance screening (0–1 scores)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Cross-paper theme synthesis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Research gap identification</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Learning path: read this first, then this...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System Architecture</a:t>
            </a:r>
            <a:endParaRPr lang="en-US" sz="2400" dirty="0"/>
          </a:p>
        </p:txBody>
      </p:sp>
      <p:sp>
        <p:nvSpPr>
          <p:cNvPr id="3" name="Shape 1"/>
          <p:cNvSpPr/>
          <p:nvPr/>
        </p:nvSpPr>
        <p:spPr>
          <a:xfrm>
            <a:off x="548640" y="1005840"/>
            <a:ext cx="3657600" cy="685800"/>
          </a:xfrm>
          <a:prstGeom prst="rect">
            <a:avLst/>
          </a:prstGeom>
          <a:solidFill>
            <a:srgbClr val="DBEAFE"/>
          </a:solidFill>
          <a:ln w="12700">
            <a:solidFill>
              <a:srgbClr val="065A82"/>
            </a:solidFill>
            <a:prstDash val="solid"/>
          </a:ln>
        </p:spPr>
      </p:sp>
      <p:sp>
        <p:nvSpPr>
          <p:cNvPr id="4" name="Text 2"/>
          <p:cNvSpPr/>
          <p:nvPr/>
        </p:nvSpPr>
        <p:spPr>
          <a:xfrm>
            <a:off x="731520" y="1051560"/>
            <a:ext cx="3291840" cy="320040"/>
          </a:xfrm>
          <a:prstGeom prst="rect">
            <a:avLst/>
          </a:prstGeom>
          <a:noFill/>
          <a:ln/>
        </p:spPr>
        <p:txBody>
          <a:bodyPr wrap="square" lIns="0" tIns="0" rIns="0" bIns="0" rtlCol="0" anchor="ctr"/>
          <a:lstStyle/>
          <a:p>
            <a:pPr indent="0" marL="0">
              <a:buNone/>
            </a:pPr>
            <a:r>
              <a:rPr lang="en-US" sz="1400" b="1" dirty="0">
                <a:solidFill>
                  <a:srgbClr val="21295C"/>
                </a:solidFill>
                <a:latin typeface="Georgia" pitchFamily="34" charset="0"/>
                <a:ea typeface="Georgia" pitchFamily="34" charset="-122"/>
                <a:cs typeface="Georgia" pitchFamily="34" charset="-120"/>
              </a:rPr>
              <a:t>Search Agent</a:t>
            </a:r>
            <a:endParaRPr lang="en-US" sz="1400" dirty="0"/>
          </a:p>
        </p:txBody>
      </p:sp>
      <p:sp>
        <p:nvSpPr>
          <p:cNvPr id="5" name="Text 3"/>
          <p:cNvSpPr/>
          <p:nvPr/>
        </p:nvSpPr>
        <p:spPr>
          <a:xfrm>
            <a:off x="731520" y="1353312"/>
            <a:ext cx="32918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3 LLM queries → arXiv + Semantic Scholar</a:t>
            </a:r>
            <a:endParaRPr lang="en-US" sz="1100" dirty="0"/>
          </a:p>
        </p:txBody>
      </p:sp>
      <p:sp>
        <p:nvSpPr>
          <p:cNvPr id="6" name="Shape 4"/>
          <p:cNvSpPr/>
          <p:nvPr/>
        </p:nvSpPr>
        <p:spPr>
          <a:xfrm>
            <a:off x="548640" y="1920240"/>
            <a:ext cx="3657600" cy="685800"/>
          </a:xfrm>
          <a:prstGeom prst="rect">
            <a:avLst/>
          </a:prstGeom>
          <a:solidFill>
            <a:srgbClr val="E0E7FF"/>
          </a:solidFill>
          <a:ln w="12700">
            <a:solidFill>
              <a:srgbClr val="065A82"/>
            </a:solidFill>
            <a:prstDash val="solid"/>
          </a:ln>
        </p:spPr>
      </p:sp>
      <p:sp>
        <p:nvSpPr>
          <p:cNvPr id="7" name="Text 5"/>
          <p:cNvSpPr/>
          <p:nvPr/>
        </p:nvSpPr>
        <p:spPr>
          <a:xfrm>
            <a:off x="731520" y="1965960"/>
            <a:ext cx="3291840" cy="320040"/>
          </a:xfrm>
          <a:prstGeom prst="rect">
            <a:avLst/>
          </a:prstGeom>
          <a:noFill/>
          <a:ln/>
        </p:spPr>
        <p:txBody>
          <a:bodyPr wrap="square" lIns="0" tIns="0" rIns="0" bIns="0" rtlCol="0" anchor="ctr"/>
          <a:lstStyle/>
          <a:p>
            <a:pPr indent="0" marL="0">
              <a:buNone/>
            </a:pPr>
            <a:r>
              <a:rPr lang="en-US" sz="1400" b="1" dirty="0">
                <a:solidFill>
                  <a:srgbClr val="21295C"/>
                </a:solidFill>
                <a:latin typeface="Georgia" pitchFamily="34" charset="0"/>
                <a:ea typeface="Georgia" pitchFamily="34" charset="-122"/>
                <a:cs typeface="Georgia" pitchFamily="34" charset="-120"/>
              </a:rPr>
              <a:t>Screening Agent</a:t>
            </a:r>
            <a:endParaRPr lang="en-US" sz="1400" dirty="0"/>
          </a:p>
        </p:txBody>
      </p:sp>
      <p:sp>
        <p:nvSpPr>
          <p:cNvPr id="8" name="Text 6"/>
          <p:cNvSpPr/>
          <p:nvPr/>
        </p:nvSpPr>
        <p:spPr>
          <a:xfrm>
            <a:off x="731520" y="2267712"/>
            <a:ext cx="32918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Relevance scoring 0–1, filter &lt; 0.5</a:t>
            </a:r>
            <a:endParaRPr lang="en-US" sz="1100" dirty="0"/>
          </a:p>
        </p:txBody>
      </p:sp>
      <p:sp>
        <p:nvSpPr>
          <p:cNvPr id="9" name="Shape 7"/>
          <p:cNvSpPr/>
          <p:nvPr/>
        </p:nvSpPr>
        <p:spPr>
          <a:xfrm>
            <a:off x="548640" y="2834640"/>
            <a:ext cx="3657600" cy="685800"/>
          </a:xfrm>
          <a:prstGeom prst="rect">
            <a:avLst/>
          </a:prstGeom>
          <a:solidFill>
            <a:srgbClr val="EDE9FE"/>
          </a:solidFill>
          <a:ln w="12700">
            <a:solidFill>
              <a:srgbClr val="065A82"/>
            </a:solidFill>
            <a:prstDash val="solid"/>
          </a:ln>
        </p:spPr>
      </p:sp>
      <p:sp>
        <p:nvSpPr>
          <p:cNvPr id="10" name="Text 8"/>
          <p:cNvSpPr/>
          <p:nvPr/>
        </p:nvSpPr>
        <p:spPr>
          <a:xfrm>
            <a:off x="731520" y="2880360"/>
            <a:ext cx="3291840" cy="320040"/>
          </a:xfrm>
          <a:prstGeom prst="rect">
            <a:avLst/>
          </a:prstGeom>
          <a:noFill/>
          <a:ln/>
        </p:spPr>
        <p:txBody>
          <a:bodyPr wrap="square" lIns="0" tIns="0" rIns="0" bIns="0" rtlCol="0" anchor="ctr"/>
          <a:lstStyle/>
          <a:p>
            <a:pPr indent="0" marL="0">
              <a:buNone/>
            </a:pPr>
            <a:r>
              <a:rPr lang="en-US" sz="1400" b="1" dirty="0">
                <a:solidFill>
                  <a:srgbClr val="21295C"/>
                </a:solidFill>
                <a:latin typeface="Georgia" pitchFamily="34" charset="0"/>
                <a:ea typeface="Georgia" pitchFamily="34" charset="-122"/>
                <a:cs typeface="Georgia" pitchFamily="34" charset="-120"/>
              </a:rPr>
              <a:t>Synthesis Agent</a:t>
            </a:r>
            <a:endParaRPr lang="en-US" sz="1400" dirty="0"/>
          </a:p>
        </p:txBody>
      </p:sp>
      <p:sp>
        <p:nvSpPr>
          <p:cNvPr id="11" name="Text 9"/>
          <p:cNvSpPr/>
          <p:nvPr/>
        </p:nvSpPr>
        <p:spPr>
          <a:xfrm>
            <a:off x="731520" y="3182112"/>
            <a:ext cx="32918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Summaries + 3–5 cross-paper themes</a:t>
            </a:r>
            <a:endParaRPr lang="en-US" sz="1100" dirty="0"/>
          </a:p>
        </p:txBody>
      </p:sp>
      <p:sp>
        <p:nvSpPr>
          <p:cNvPr id="12" name="Shape 10"/>
          <p:cNvSpPr/>
          <p:nvPr/>
        </p:nvSpPr>
        <p:spPr>
          <a:xfrm>
            <a:off x="548640" y="3749040"/>
            <a:ext cx="3657600" cy="685800"/>
          </a:xfrm>
          <a:prstGeom prst="rect">
            <a:avLst/>
          </a:prstGeom>
          <a:solidFill>
            <a:srgbClr val="FCE7F3"/>
          </a:solidFill>
          <a:ln w="12700">
            <a:solidFill>
              <a:srgbClr val="065A82"/>
            </a:solidFill>
            <a:prstDash val="solid"/>
          </a:ln>
        </p:spPr>
      </p:sp>
      <p:sp>
        <p:nvSpPr>
          <p:cNvPr id="13" name="Text 11"/>
          <p:cNvSpPr/>
          <p:nvPr/>
        </p:nvSpPr>
        <p:spPr>
          <a:xfrm>
            <a:off x="731520" y="3794760"/>
            <a:ext cx="3291840" cy="320040"/>
          </a:xfrm>
          <a:prstGeom prst="rect">
            <a:avLst/>
          </a:prstGeom>
          <a:noFill/>
          <a:ln/>
        </p:spPr>
        <p:txBody>
          <a:bodyPr wrap="square" lIns="0" tIns="0" rIns="0" bIns="0" rtlCol="0" anchor="ctr"/>
          <a:lstStyle/>
          <a:p>
            <a:pPr indent="0" marL="0">
              <a:buNone/>
            </a:pPr>
            <a:r>
              <a:rPr lang="en-US" sz="1400" b="1" dirty="0">
                <a:solidFill>
                  <a:srgbClr val="21295C"/>
                </a:solidFill>
                <a:latin typeface="Georgia" pitchFamily="34" charset="0"/>
                <a:ea typeface="Georgia" pitchFamily="34" charset="-122"/>
                <a:cs typeface="Georgia" pitchFamily="34" charset="-120"/>
              </a:rPr>
              <a:t>Planning Agent</a:t>
            </a:r>
            <a:endParaRPr lang="en-US" sz="1400" dirty="0"/>
          </a:p>
        </p:txBody>
      </p:sp>
      <p:sp>
        <p:nvSpPr>
          <p:cNvPr id="14" name="Text 12"/>
          <p:cNvSpPr/>
          <p:nvPr/>
        </p:nvSpPr>
        <p:spPr>
          <a:xfrm>
            <a:off x="731520" y="4096512"/>
            <a:ext cx="3291840" cy="274320"/>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Gaps + Plan + Reading Order</a:t>
            </a:r>
            <a:endParaRPr lang="en-US" sz="1100" dirty="0"/>
          </a:p>
        </p:txBody>
      </p:sp>
      <p:sp>
        <p:nvSpPr>
          <p:cNvPr id="15" name="Text 13"/>
          <p:cNvSpPr/>
          <p:nvPr/>
        </p:nvSpPr>
        <p:spPr>
          <a:xfrm>
            <a:off x="2011680" y="1691640"/>
            <a:ext cx="548640" cy="228600"/>
          </a:xfrm>
          <a:prstGeom prst="rect">
            <a:avLst/>
          </a:prstGeom>
          <a:noFill/>
          <a:ln/>
        </p:spPr>
        <p:txBody>
          <a:bodyPr wrap="square" lIns="0" tIns="0" rIns="0" bIns="0" rtlCol="0" anchor="ctr"/>
          <a:lstStyle/>
          <a:p>
            <a:pPr algn="ctr" indent="0" marL="0">
              <a:buNone/>
            </a:pPr>
            <a:r>
              <a:rPr lang="en-US" sz="1400" dirty="0">
                <a:solidFill>
                  <a:srgbClr val="065A82"/>
                </a:solidFill>
              </a:rPr>
              <a:t>▼</a:t>
            </a:r>
            <a:endParaRPr lang="en-US" sz="1400" dirty="0"/>
          </a:p>
        </p:txBody>
      </p:sp>
      <p:sp>
        <p:nvSpPr>
          <p:cNvPr id="16" name="Text 14"/>
          <p:cNvSpPr/>
          <p:nvPr/>
        </p:nvSpPr>
        <p:spPr>
          <a:xfrm>
            <a:off x="2011680" y="2606040"/>
            <a:ext cx="548640" cy="228600"/>
          </a:xfrm>
          <a:prstGeom prst="rect">
            <a:avLst/>
          </a:prstGeom>
          <a:noFill/>
          <a:ln/>
        </p:spPr>
        <p:txBody>
          <a:bodyPr wrap="square" lIns="0" tIns="0" rIns="0" bIns="0" rtlCol="0" anchor="ctr"/>
          <a:lstStyle/>
          <a:p>
            <a:pPr algn="ctr" indent="0" marL="0">
              <a:buNone/>
            </a:pPr>
            <a:r>
              <a:rPr lang="en-US" sz="1400" dirty="0">
                <a:solidFill>
                  <a:srgbClr val="065A82"/>
                </a:solidFill>
              </a:rPr>
              <a:t>▼</a:t>
            </a:r>
            <a:endParaRPr lang="en-US" sz="1400" dirty="0"/>
          </a:p>
        </p:txBody>
      </p:sp>
      <p:sp>
        <p:nvSpPr>
          <p:cNvPr id="17" name="Text 15"/>
          <p:cNvSpPr/>
          <p:nvPr/>
        </p:nvSpPr>
        <p:spPr>
          <a:xfrm>
            <a:off x="2011680" y="3520440"/>
            <a:ext cx="548640" cy="228600"/>
          </a:xfrm>
          <a:prstGeom prst="rect">
            <a:avLst/>
          </a:prstGeom>
          <a:noFill/>
          <a:ln/>
        </p:spPr>
        <p:txBody>
          <a:bodyPr wrap="square" lIns="0" tIns="0" rIns="0" bIns="0" rtlCol="0" anchor="ctr"/>
          <a:lstStyle/>
          <a:p>
            <a:pPr algn="ctr" indent="0" marL="0">
              <a:buNone/>
            </a:pPr>
            <a:r>
              <a:rPr lang="en-US" sz="1400" dirty="0">
                <a:solidFill>
                  <a:srgbClr val="065A82"/>
                </a:solidFill>
              </a:rPr>
              <a:t>▼</a:t>
            </a:r>
            <a:endParaRPr lang="en-US" sz="1400" dirty="0"/>
          </a:p>
        </p:txBody>
      </p:sp>
      <p:sp>
        <p:nvSpPr>
          <p:cNvPr id="18" name="Shape 16"/>
          <p:cNvSpPr/>
          <p:nvPr/>
        </p:nvSpPr>
        <p:spPr>
          <a:xfrm>
            <a:off x="4389120" y="1920240"/>
            <a:ext cx="36576" cy="1097280"/>
          </a:xfrm>
          <a:prstGeom prst="rect">
            <a:avLst/>
          </a:prstGeom>
          <a:solidFill>
            <a:srgbClr val="DC2626"/>
          </a:solidFill>
          <a:ln/>
        </p:spPr>
      </p:sp>
      <p:sp>
        <p:nvSpPr>
          <p:cNvPr id="19" name="Text 17"/>
          <p:cNvSpPr/>
          <p:nvPr/>
        </p:nvSpPr>
        <p:spPr>
          <a:xfrm>
            <a:off x="4480560" y="2286000"/>
            <a:ext cx="2286000" cy="365760"/>
          </a:xfrm>
          <a:prstGeom prst="rect">
            <a:avLst/>
          </a:prstGeom>
          <a:noFill/>
          <a:ln/>
        </p:spPr>
        <p:txBody>
          <a:bodyPr wrap="square" lIns="0" tIns="0" rIns="0" bIns="0" rtlCol="0" anchor="ctr"/>
          <a:lstStyle/>
          <a:p>
            <a:pPr indent="0" marL="0">
              <a:buNone/>
            </a:pPr>
            <a:r>
              <a:rPr lang="en-US" sz="1100" dirty="0">
                <a:solidFill>
                  <a:srgbClr val="DC2626"/>
                </a:solidFill>
                <a:latin typeface="Calibri" pitchFamily="34" charset="0"/>
                <a:ea typeface="Calibri" pitchFamily="34" charset="-122"/>
                <a:cs typeface="Calibri" pitchFamily="34" charset="-120"/>
              </a:rPr>
              <a:t>▲ Loop back if &lt; 3 papers</a:t>
            </a:r>
            <a:endParaRPr lang="en-US" sz="1100" dirty="0"/>
          </a:p>
        </p:txBody>
      </p:sp>
      <p:sp>
        <p:nvSpPr>
          <p:cNvPr id="20" name="Shape 18"/>
          <p:cNvSpPr/>
          <p:nvPr/>
        </p:nvSpPr>
        <p:spPr>
          <a:xfrm>
            <a:off x="5303520" y="1005840"/>
            <a:ext cx="3474720" cy="3474720"/>
          </a:xfrm>
          <a:prstGeom prst="rect">
            <a:avLst/>
          </a:prstGeom>
          <a:solidFill>
            <a:srgbClr val="F0F4F8"/>
          </a:solidFill>
          <a:ln/>
        </p:spPr>
      </p:sp>
      <p:sp>
        <p:nvSpPr>
          <p:cNvPr id="21" name="Text 19"/>
          <p:cNvSpPr/>
          <p:nvPr/>
        </p:nvSpPr>
        <p:spPr>
          <a:xfrm>
            <a:off x="5486400" y="1097280"/>
            <a:ext cx="3108960" cy="365760"/>
          </a:xfrm>
          <a:prstGeom prst="rect">
            <a:avLst/>
          </a:prstGeom>
          <a:noFill/>
          <a:ln/>
        </p:spPr>
        <p:txBody>
          <a:bodyPr wrap="square"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Key Design Decisions</a:t>
            </a:r>
            <a:endParaRPr lang="en-US" sz="1500" dirty="0"/>
          </a:p>
        </p:txBody>
      </p:sp>
      <p:sp>
        <p:nvSpPr>
          <p:cNvPr id="22" name="Text 20"/>
          <p:cNvSpPr/>
          <p:nvPr/>
        </p:nvSpPr>
        <p:spPr>
          <a:xfrm>
            <a:off x="5486400" y="1554480"/>
            <a:ext cx="3108960" cy="2743200"/>
          </a:xfrm>
          <a:prstGeom prst="rect">
            <a:avLst/>
          </a:prstGeom>
          <a:noFill/>
          <a:ln/>
        </p:spPr>
        <p:txBody>
          <a:bodyPr wrap="square" rtlCol="0" anchor="t"/>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Built on LangGraph StateGraph</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Shared TypedDict state across agents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Conditional edge for feedback loop</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LLM initialized inside each function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Provider-agnostic: Gemini → Groq in 5 min</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Fault tolerance at every stage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Search Agent — Multi-Source Retrieval</a:t>
            </a:r>
            <a:endParaRPr lang="en-US" sz="2400" dirty="0"/>
          </a:p>
        </p:txBody>
      </p:sp>
      <p:sp>
        <p:nvSpPr>
          <p:cNvPr id="3" name="Text 1"/>
          <p:cNvSpPr/>
          <p:nvPr/>
        </p:nvSpPr>
        <p:spPr>
          <a:xfrm>
            <a:off x="548640" y="822960"/>
            <a:ext cx="82296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Input: research topic → Output: deduplicated paper list</a:t>
            </a:r>
            <a:endParaRPr lang="en-US" sz="1300" dirty="0"/>
          </a:p>
        </p:txBody>
      </p:sp>
      <p:sp>
        <p:nvSpPr>
          <p:cNvPr id="4" name="Text 2"/>
          <p:cNvSpPr/>
          <p:nvPr/>
        </p:nvSpPr>
        <p:spPr>
          <a:xfrm>
            <a:off x="548640" y="1371600"/>
            <a:ext cx="3657600" cy="36576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How it works:</a:t>
            </a:r>
            <a:endParaRPr lang="en-US" sz="1600" dirty="0"/>
          </a:p>
        </p:txBody>
      </p:sp>
      <p:sp>
        <p:nvSpPr>
          <p:cNvPr id="5" name="Text 3"/>
          <p:cNvSpPr/>
          <p:nvPr/>
        </p:nvSpPr>
        <p:spPr>
          <a:xfrm>
            <a:off x="548640" y="1828800"/>
            <a:ext cx="4114800" cy="228600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LLM generates 3 diverse search queries from topic</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Each query sent to arXiv API + Semantic Scholar API</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Up to 5 papers per source per query</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Deduplicated by title across all sources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Result: 15–30 unique candidate papers</a:t>
            </a:r>
            <a:endParaRPr lang="en-US" sz="1400" dirty="0"/>
          </a:p>
        </p:txBody>
      </p:sp>
      <p:sp>
        <p:nvSpPr>
          <p:cNvPr id="6" name="Shape 4"/>
          <p:cNvSpPr/>
          <p:nvPr/>
        </p:nvSpPr>
        <p:spPr>
          <a:xfrm>
            <a:off x="5029200" y="1371600"/>
            <a:ext cx="3749040" cy="2926080"/>
          </a:xfrm>
          <a:prstGeom prst="rect">
            <a:avLst/>
          </a:prstGeom>
          <a:solidFill>
            <a:srgbClr val="F8FAFC"/>
          </a:solidFill>
          <a:ln w="12700">
            <a:solidFill>
              <a:srgbClr val="E2E8F0"/>
            </a:solidFill>
            <a:prstDash val="solid"/>
          </a:ln>
        </p:spPr>
      </p:sp>
      <p:sp>
        <p:nvSpPr>
          <p:cNvPr id="7" name="Text 5"/>
          <p:cNvSpPr/>
          <p:nvPr/>
        </p:nvSpPr>
        <p:spPr>
          <a:xfrm>
            <a:off x="5212080" y="1463040"/>
            <a:ext cx="3383280" cy="365760"/>
          </a:xfrm>
          <a:prstGeom prst="rect">
            <a:avLst/>
          </a:prstGeom>
          <a:noFill/>
          <a:ln/>
        </p:spPr>
        <p:txBody>
          <a:bodyPr wrap="square" rtlCol="0" anchor="ctr"/>
          <a:lstStyle/>
          <a:p>
            <a:pPr indent="0" marL="0">
              <a:buNone/>
            </a:pPr>
            <a:r>
              <a:rPr lang="en-US" sz="1300" b="1" dirty="0">
                <a:solidFill>
                  <a:srgbClr val="1E293B"/>
                </a:solidFill>
                <a:latin typeface="Georgia" pitchFamily="34" charset="0"/>
                <a:ea typeface="Georgia" pitchFamily="34" charset="-122"/>
                <a:cs typeface="Georgia" pitchFamily="34" charset="-120"/>
              </a:rPr>
              <a:t>Example: "zero-shot learning"</a:t>
            </a:r>
            <a:endParaRPr lang="en-US" sz="1300" dirty="0"/>
          </a:p>
        </p:txBody>
      </p:sp>
      <p:sp>
        <p:nvSpPr>
          <p:cNvPr id="8" name="Text 6"/>
          <p:cNvSpPr/>
          <p:nvPr/>
        </p:nvSpPr>
        <p:spPr>
          <a:xfrm>
            <a:off x="5212080" y="1920240"/>
            <a:ext cx="3383280" cy="2194560"/>
          </a:xfrm>
          <a:prstGeom prst="rect">
            <a:avLst/>
          </a:prstGeom>
          <a:noFill/>
          <a:ln/>
        </p:spPr>
        <p:txBody>
          <a:bodyPr wrap="square" rtlCol="0" anchor="t"/>
          <a:lstStyle/>
          <a:p>
            <a:pPr indent="0" marL="0">
              <a:buNone/>
            </a:pPr>
            <a:r>
              <a:rPr lang="en-US" sz="1100" b="1" dirty="0">
                <a:solidFill>
                  <a:srgbClr val="1E293B"/>
                </a:solidFill>
                <a:latin typeface="Calibri" pitchFamily="34" charset="0"/>
                <a:ea typeface="Calibri" pitchFamily="34" charset="-122"/>
                <a:cs typeface="Calibri" pitchFamily="34" charset="-120"/>
              </a:rPr>
              <a:t>Generated queries:</a:t>
            </a:r>
            <a:endParaRPr lang="en-US" sz="1100" dirty="0"/>
          </a:p>
          <a:p>
            <a:pPr indent="0" marL="0">
              <a:buNone/>
            </a:pPr>
            <a:r>
              <a:rPr lang="en-US" sz="1100" dirty="0">
                <a:solidFill>
                  <a:srgbClr val="065A82"/>
                </a:solidFill>
                <a:latin typeface="Consolas" pitchFamily="34" charset="0"/>
                <a:ea typeface="Consolas" pitchFamily="34" charset="-122"/>
                <a:cs typeface="Consolas" pitchFamily="34" charset="-120"/>
              </a:rPr>
              <a:t>1. "zero shot learning AND deep learning"</a:t>
            </a:r>
            <a:endParaRPr lang="en-US" sz="1100" dirty="0"/>
          </a:p>
          <a:p>
            <a:pPr indent="0" marL="0">
              <a:buNone/>
            </a:pPr>
            <a:r>
              <a:rPr lang="en-US" sz="1100" dirty="0">
                <a:solidFill>
                  <a:srgbClr val="065A82"/>
                </a:solidFill>
                <a:latin typeface="Consolas" pitchFamily="34" charset="0"/>
                <a:ea typeface="Consolas" pitchFamily="34" charset="-122"/>
                <a:cs typeface="Consolas" pitchFamily="34" charset="-120"/>
              </a:rPr>
              <a:t>2. "few shot learning OR meta learning"</a:t>
            </a:r>
            <a:endParaRPr lang="en-US" sz="1100" dirty="0"/>
          </a:p>
          <a:p>
            <a:pPr indent="0" marL="0">
              <a:buNone/>
            </a:pPr>
            <a:r>
              <a:rPr lang="en-US" sz="1100" dirty="0">
                <a:solidFill>
                  <a:srgbClr val="065A82"/>
                </a:solidFill>
                <a:latin typeface="Consolas" pitchFamily="34" charset="0"/>
                <a:ea typeface="Consolas" pitchFamily="34" charset="-122"/>
                <a:cs typeface="Consolas" pitchFamily="34" charset="-120"/>
              </a:rPr>
              <a:t>3. "zero shot classification AND transfer learning"</a:t>
            </a:r>
            <a:endParaRPr lang="en-US" sz="1100" dirty="0"/>
          </a:p>
          <a:p>
            <a:pPr indent="0" marL="0">
              <a:buNone/>
            </a:pPr>
            <a:endParaRPr lang="en-US" sz="1100" dirty="0"/>
          </a:p>
          <a:p>
            <a:pPr indent="0" marL="0">
              <a:buNone/>
            </a:pPr>
            <a:r>
              <a:rPr lang="en-US" sz="1200" b="1" dirty="0">
                <a:solidFill>
                  <a:srgbClr val="059669"/>
                </a:solidFill>
                <a:latin typeface="Calibri" pitchFamily="34" charset="0"/>
                <a:ea typeface="Calibri" pitchFamily="34" charset="-122"/>
                <a:cs typeface="Calibri" pitchFamily="34" charset="-120"/>
              </a:rPr>
              <a:t>Result: 17 unique papers from 2 sources</a:t>
            </a:r>
            <a:endParaRPr lang="en-US" sz="1100" dirty="0"/>
          </a:p>
        </p:txBody>
      </p:sp>
      <p:sp>
        <p:nvSpPr>
          <p:cNvPr id="9" name="Shape 7"/>
          <p:cNvSpPr/>
          <p:nvPr/>
        </p:nvSpPr>
        <p:spPr>
          <a:xfrm>
            <a:off x="548640" y="4206240"/>
            <a:ext cx="8229600" cy="548640"/>
          </a:xfrm>
          <a:prstGeom prst="rect">
            <a:avLst/>
          </a:prstGeom>
          <a:solidFill>
            <a:srgbClr val="FEF3C7"/>
          </a:solidFill>
          <a:ln/>
        </p:spPr>
      </p:sp>
      <p:sp>
        <p:nvSpPr>
          <p:cNvPr id="10" name="Text 8"/>
          <p:cNvSpPr/>
          <p:nvPr/>
        </p:nvSpPr>
        <p:spPr>
          <a:xfrm>
            <a:off x="731520" y="4251960"/>
            <a:ext cx="7863840" cy="457200"/>
          </a:xfrm>
          <a:prstGeom prst="rect">
            <a:avLst/>
          </a:prstGeom>
          <a:noFill/>
          <a:ln/>
        </p:spPr>
        <p:txBody>
          <a:bodyPr wrap="square" rtlCol="0" anchor="ctr"/>
          <a:lstStyle/>
          <a:p>
            <a:pPr indent="0" marL="0">
              <a:buNone/>
            </a:pPr>
            <a:r>
              <a:rPr lang="en-US" sz="1200" dirty="0">
                <a:solidFill>
                  <a:srgbClr val="92400E"/>
                </a:solidFill>
                <a:latin typeface="Calibri" pitchFamily="34" charset="0"/>
                <a:ea typeface="Calibri" pitchFamily="34" charset="-122"/>
                <a:cs typeface="Calibri" pitchFamily="34" charset="-120"/>
              </a:rPr>
              <a:t>Fault tolerance: If Semantic Scholar returns 429, agent catches error and continues with arXiv only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Screening &amp; Synthesis Agents</a:t>
            </a:r>
            <a:endParaRPr lang="en-US" sz="2400" dirty="0"/>
          </a:p>
        </p:txBody>
      </p:sp>
      <p:sp>
        <p:nvSpPr>
          <p:cNvPr id="3" name="Shape 1"/>
          <p:cNvSpPr/>
          <p:nvPr/>
        </p:nvSpPr>
        <p:spPr>
          <a:xfrm>
            <a:off x="457200" y="914400"/>
            <a:ext cx="4023360" cy="3657600"/>
          </a:xfrm>
          <a:prstGeom prst="rect">
            <a:avLst/>
          </a:prstGeom>
          <a:solidFill>
            <a:srgbClr val="F0F4F8"/>
          </a:solidFill>
          <a:ln/>
        </p:spPr>
      </p:sp>
      <p:sp>
        <p:nvSpPr>
          <p:cNvPr id="4" name="Text 2"/>
          <p:cNvSpPr/>
          <p:nvPr/>
        </p:nvSpPr>
        <p:spPr>
          <a:xfrm>
            <a:off x="640080" y="1005840"/>
            <a:ext cx="3657600" cy="365760"/>
          </a:xfrm>
          <a:prstGeom prst="rect">
            <a:avLst/>
          </a:prstGeom>
          <a:noFill/>
          <a:ln/>
        </p:spPr>
        <p:txBody>
          <a:bodyPr wrap="square"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Screening Agent</a:t>
            </a:r>
            <a:endParaRPr lang="en-US" sz="1800" dirty="0"/>
          </a:p>
        </p:txBody>
      </p:sp>
      <p:sp>
        <p:nvSpPr>
          <p:cNvPr id="5" name="Text 3"/>
          <p:cNvSpPr/>
          <p:nvPr/>
        </p:nvSpPr>
        <p:spPr>
          <a:xfrm>
            <a:off x="640080" y="1463040"/>
            <a:ext cx="3657600" cy="2926080"/>
          </a:xfrm>
          <a:prstGeom prst="rect">
            <a:avLst/>
          </a:prstGeom>
          <a:noFill/>
          <a:ln/>
        </p:spPr>
        <p:txBody>
          <a:bodyPr wrap="square" rtlCol="0" anchor="t"/>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Sends title + abstract to LLM</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Gets relevance score: 0.0 – 1.0</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Papers below 0.5 filtered out</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Sorted by descending score</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Default 0.5 if LLM unparseable</a:t>
            </a:r>
            <a:endParaRPr lang="en-US" sz="1300" dirty="0"/>
          </a:p>
          <a:p>
            <a:pPr indent="0" marL="0">
              <a:spcAft>
                <a:spcPts val="600"/>
              </a:spcAft>
              <a:buNone/>
            </a:pPr>
            <a:endParaRPr lang="en-US" sz="1300" dirty="0"/>
          </a:p>
          <a:p>
            <a:pPr indent="0" marL="0">
              <a:spcAft>
                <a:spcPts val="600"/>
              </a:spcAft>
              <a:buNone/>
            </a:pPr>
            <a:r>
              <a:rPr lang="en-US" sz="1200" b="1" dirty="0">
                <a:solidFill>
                  <a:srgbClr val="059669"/>
                </a:solidFill>
                <a:latin typeface="Calibri" pitchFamily="34" charset="0"/>
                <a:ea typeface="Calibri" pitchFamily="34" charset="-122"/>
                <a:cs typeface="Calibri" pitchFamily="34" charset="-120"/>
              </a:rPr>
              <a:t>11 of 17 papers retained | Precision: 1.00</a:t>
            </a:r>
            <a:endParaRPr lang="en-US" sz="1300" dirty="0"/>
          </a:p>
        </p:txBody>
      </p:sp>
      <p:sp>
        <p:nvSpPr>
          <p:cNvPr id="6" name="Shape 4"/>
          <p:cNvSpPr/>
          <p:nvPr/>
        </p:nvSpPr>
        <p:spPr>
          <a:xfrm>
            <a:off x="4754880" y="914400"/>
            <a:ext cx="4023360" cy="3657600"/>
          </a:xfrm>
          <a:prstGeom prst="rect">
            <a:avLst/>
          </a:prstGeom>
          <a:solidFill>
            <a:srgbClr val="F0F4F8"/>
          </a:solidFill>
          <a:ln/>
        </p:spPr>
      </p:sp>
      <p:sp>
        <p:nvSpPr>
          <p:cNvPr id="7" name="Text 5"/>
          <p:cNvSpPr/>
          <p:nvPr/>
        </p:nvSpPr>
        <p:spPr>
          <a:xfrm>
            <a:off x="4937760" y="1005840"/>
            <a:ext cx="3657600" cy="365760"/>
          </a:xfrm>
          <a:prstGeom prst="rect">
            <a:avLst/>
          </a:prstGeom>
          <a:noFill/>
          <a:ln/>
        </p:spPr>
        <p:txBody>
          <a:bodyPr wrap="square" rtlCol="0" anchor="ctr"/>
          <a:lstStyle/>
          <a:p>
            <a:pPr indent="0" marL="0">
              <a:buNone/>
            </a:pPr>
            <a:r>
              <a:rPr lang="en-US" sz="1800" b="1" dirty="0">
                <a:solidFill>
                  <a:srgbClr val="065A82"/>
                </a:solidFill>
                <a:latin typeface="Georgia" pitchFamily="34" charset="0"/>
                <a:ea typeface="Georgia" pitchFamily="34" charset="-122"/>
                <a:cs typeface="Georgia" pitchFamily="34" charset="-120"/>
              </a:rPr>
              <a:t>Synthesis Agent</a:t>
            </a:r>
            <a:endParaRPr lang="en-US" sz="1800" dirty="0"/>
          </a:p>
        </p:txBody>
      </p:sp>
      <p:sp>
        <p:nvSpPr>
          <p:cNvPr id="8" name="Text 6"/>
          <p:cNvSpPr/>
          <p:nvPr/>
        </p:nvSpPr>
        <p:spPr>
          <a:xfrm>
            <a:off x="4937760" y="1463040"/>
            <a:ext cx="3657600" cy="2926080"/>
          </a:xfrm>
          <a:prstGeom prst="rect">
            <a:avLst/>
          </a:prstGeom>
          <a:noFill/>
          <a:ln/>
        </p:spPr>
        <p:txBody>
          <a:bodyPr wrap="square" rtlCol="0" anchor="t"/>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2–3 sentence summary per paper</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All summaries sent to LLM together</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Identifies 3–5 cross-paper themes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Fallback: generic theme on parse failure</a:t>
            </a:r>
            <a:endParaRPr lang="en-US" sz="1300" dirty="0"/>
          </a:p>
          <a:p>
            <a:pPr indent="0" marL="0">
              <a:spcAft>
                <a:spcPts val="600"/>
              </a:spcAft>
              <a:buNone/>
            </a:pPr>
            <a:endParaRPr lang="en-US" sz="1300" dirty="0"/>
          </a:p>
          <a:p>
            <a:pPr indent="0" marL="0">
              <a:spcAft>
                <a:spcPts val="600"/>
              </a:spcAft>
              <a:buNone/>
            </a:pPr>
            <a:r>
              <a:rPr lang="en-US" sz="1200" b="1" dirty="0">
                <a:solidFill>
                  <a:srgbClr val="059669"/>
                </a:solidFill>
                <a:latin typeface="Calibri" pitchFamily="34" charset="0"/>
                <a:ea typeface="Calibri" pitchFamily="34" charset="-122"/>
                <a:cs typeface="Calibri" pitchFamily="34" charset="-120"/>
              </a:rPr>
              <a:t>Themes: Zero-Shot Learning, Few-Shot</a:t>
            </a:r>
            <a:endParaRPr lang="en-US" sz="1300" dirty="0"/>
          </a:p>
          <a:p>
            <a:pPr indent="0" marL="0">
              <a:spcAft>
                <a:spcPts val="600"/>
              </a:spcAft>
              <a:buNone/>
            </a:pPr>
            <a:r>
              <a:rPr lang="en-US" sz="1200" dirty="0">
                <a:solidFill>
                  <a:srgbClr val="059669"/>
                </a:solidFill>
                <a:latin typeface="Calibri" pitchFamily="34" charset="0"/>
                <a:ea typeface="Calibri" pitchFamily="34" charset="-122"/>
                <a:cs typeface="Calibri" pitchFamily="34" charset="-120"/>
              </a:rPr>
              <a:t>Learning, Meta-Learning, Deep Learning,</a:t>
            </a:r>
            <a:endParaRPr lang="en-US" sz="1300" dirty="0"/>
          </a:p>
          <a:p>
            <a:pPr indent="0" marL="0">
              <a:spcAft>
                <a:spcPts val="600"/>
              </a:spcAft>
              <a:buNone/>
            </a:pPr>
            <a:r>
              <a:rPr lang="en-US" sz="1200" dirty="0">
                <a:solidFill>
                  <a:srgbClr val="059669"/>
                </a:solidFill>
                <a:latin typeface="Calibri" pitchFamily="34" charset="0"/>
                <a:ea typeface="Calibri" pitchFamily="34" charset="-122"/>
                <a:cs typeface="Calibri" pitchFamily="34" charset="-120"/>
              </a:rPr>
              <a:t>Knowledge Transfer</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Planning Agent &amp; Learning Path</a:t>
            </a:r>
            <a:endParaRPr lang="en-US" sz="2400" dirty="0"/>
          </a:p>
        </p:txBody>
      </p:sp>
      <p:sp>
        <p:nvSpPr>
          <p:cNvPr id="3" name="Text 1"/>
          <p:cNvSpPr/>
          <p:nvPr/>
        </p:nvSpPr>
        <p:spPr>
          <a:xfrm>
            <a:off x="548640" y="822960"/>
            <a:ext cx="8229600" cy="365760"/>
          </a:xfrm>
          <a:prstGeom prst="rect">
            <a:avLst/>
          </a:prstGeom>
          <a:noFill/>
          <a:ln/>
        </p:spPr>
        <p:txBody>
          <a:bodyPr wrap="square"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The key feature: telling you which paper to read first and why</a:t>
            </a:r>
            <a:endParaRPr lang="en-US" sz="1300" dirty="0"/>
          </a:p>
        </p:txBody>
      </p:sp>
      <p:sp>
        <p:nvSpPr>
          <p:cNvPr id="4" name="Text 2"/>
          <p:cNvSpPr/>
          <p:nvPr/>
        </p:nvSpPr>
        <p:spPr>
          <a:xfrm>
            <a:off x="548640" y="1371600"/>
            <a:ext cx="3657600" cy="365760"/>
          </a:xfrm>
          <a:prstGeom prst="rect">
            <a:avLst/>
          </a:prstGeom>
          <a:noFill/>
          <a:ln/>
        </p:spPr>
        <p:txBody>
          <a:bodyPr wrap="square" rtlCol="0" anchor="ctr"/>
          <a:lstStyle/>
          <a:p>
            <a:pPr indent="0" marL="0">
              <a:buNone/>
            </a:pPr>
            <a:r>
              <a:rPr lang="en-US" sz="1500" b="1" dirty="0">
                <a:solidFill>
                  <a:srgbClr val="1E293B"/>
                </a:solidFill>
                <a:latin typeface="Georgia" pitchFamily="34" charset="0"/>
                <a:ea typeface="Georgia" pitchFamily="34" charset="-122"/>
                <a:cs typeface="Georgia" pitchFamily="34" charset="-120"/>
              </a:rPr>
              <a:t>Single LLM call produces:</a:t>
            </a:r>
            <a:endParaRPr lang="en-US" sz="1500" dirty="0"/>
          </a:p>
        </p:txBody>
      </p:sp>
      <p:sp>
        <p:nvSpPr>
          <p:cNvPr id="5" name="Text 3"/>
          <p:cNvSpPr/>
          <p:nvPr/>
        </p:nvSpPr>
        <p:spPr>
          <a:xfrm>
            <a:off x="548640" y="1828800"/>
            <a:ext cx="4114800" cy="118872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3–5 research gaps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Structured research plan</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Recommended reading order for ALL papers</a:t>
            </a:r>
            <a:endParaRPr lang="en-US" sz="1400" dirty="0"/>
          </a:p>
        </p:txBody>
      </p:sp>
      <p:sp>
        <p:nvSpPr>
          <p:cNvPr id="6" name="Shape 4"/>
          <p:cNvSpPr/>
          <p:nvPr/>
        </p:nvSpPr>
        <p:spPr>
          <a:xfrm>
            <a:off x="457200" y="2926080"/>
            <a:ext cx="8321040" cy="2011680"/>
          </a:xfrm>
          <a:prstGeom prst="rect">
            <a:avLst/>
          </a:prstGeom>
          <a:solidFill>
            <a:srgbClr val="F0FDF4"/>
          </a:solidFill>
          <a:ln w="12700">
            <a:solidFill>
              <a:srgbClr val="86EFAC"/>
            </a:solidFill>
            <a:prstDash val="solid"/>
          </a:ln>
        </p:spPr>
      </p:sp>
      <p:sp>
        <p:nvSpPr>
          <p:cNvPr id="7" name="Text 5"/>
          <p:cNvSpPr/>
          <p:nvPr/>
        </p:nvSpPr>
        <p:spPr>
          <a:xfrm>
            <a:off x="640080" y="3017520"/>
            <a:ext cx="7315200" cy="320040"/>
          </a:xfrm>
          <a:prstGeom prst="rect">
            <a:avLst/>
          </a:prstGeom>
          <a:noFill/>
          <a:ln/>
        </p:spPr>
        <p:txBody>
          <a:bodyPr wrap="square" rtlCol="0" anchor="ctr"/>
          <a:lstStyle/>
          <a:p>
            <a:pPr indent="0" marL="0">
              <a:buNone/>
            </a:pPr>
            <a:r>
              <a:rPr lang="en-US" sz="1400" b="1" dirty="0">
                <a:solidFill>
                  <a:srgbClr val="059669"/>
                </a:solidFill>
                <a:latin typeface="Georgia" pitchFamily="34" charset="0"/>
                <a:ea typeface="Georgia" pitchFamily="34" charset="-122"/>
                <a:cs typeface="Georgia" pitchFamily="34" charset="-120"/>
              </a:rPr>
              <a:t>Reading Order (zero-shot learning)</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383280"/>
          <a:ext cx="7955280" cy="1463040"/>
        </p:xfrm>
        <a:graphic>
          <a:graphicData uri="http://schemas.openxmlformats.org/drawingml/2006/table">
            <a:tbl>
              <a:tblPr/>
              <a:tblGrid>
                <a:gridCol w="457200"/>
                <a:gridCol w="4572000"/>
                <a:gridCol w="2926080"/>
              </a:tblGrid>
              <a:tr h="243840">
                <a:tc>
                  <a:txBody>
                    <a:bodyPr/>
                    <a:lstStyle/>
                    <a:p>
                      <a:pPr algn="ctr" indent="0" marL="0">
                        <a:buNone/>
                      </a:pPr>
                      <a:r>
                        <a:rPr lang="en-US" sz="1100" b="1" dirty="0">
                          <a:solidFill>
                            <a:srgbClr val="FFFFFF"/>
                          </a:solidFill>
                        </a:rPr>
                        <a:t>#</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59669"/>
                    </a:solidFill>
                  </a:tcPr>
                </a:tc>
                <a:tc>
                  <a:txBody>
                    <a:bodyPr/>
                    <a:lstStyle/>
                    <a:p>
                      <a:pPr algn="ctr" indent="0" marL="0">
                        <a:buNone/>
                      </a:pPr>
                      <a:r>
                        <a:rPr lang="en-US" sz="1100" b="1" dirty="0">
                          <a:solidFill>
                            <a:srgbClr val="FFFFFF"/>
                          </a:solidFill>
                        </a:rPr>
                        <a:t>Paper</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59669"/>
                    </a:solidFill>
                  </a:tcPr>
                </a:tc>
                <a:tc>
                  <a:txBody>
                    <a:bodyPr/>
                    <a:lstStyle/>
                    <a:p>
                      <a:pPr algn="ctr" indent="0" marL="0">
                        <a:buNone/>
                      </a:pPr>
                      <a:r>
                        <a:rPr lang="en-US" sz="1100" b="1" dirty="0">
                          <a:solidFill>
                            <a:srgbClr val="FFFFFF"/>
                          </a:solidFill>
                        </a:rPr>
                        <a:t>Why here</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59669"/>
                    </a:solidFill>
                  </a:tcPr>
                </a:tc>
              </a:tr>
              <a:tr h="243840">
                <a:tc>
                  <a:txBody>
                    <a:bodyPr/>
                    <a:lstStyle/>
                    <a:p>
                      <a:pPr algn="ctr" indent="0" marL="0">
                        <a:buNone/>
                      </a:pPr>
                      <a:r>
                        <a:rPr lang="en-US" sz="1100" dirty="0">
                          <a:solidFill>
                            <a:srgbClr val="000000"/>
                          </a:solidFill>
                        </a:rPr>
                        <a:t>1</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000000"/>
                          </a:solidFill>
                        </a:rPr>
                        <a:t>Survey (Knowledge Graphs)</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64748B"/>
                          </a:solidFill>
                        </a:rPr>
                        <a:t>Landscape overview</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43840">
                <a:tc>
                  <a:txBody>
                    <a:bodyPr/>
                    <a:lstStyle/>
                    <a:p>
                      <a:pPr algn="ctr" indent="0" marL="0">
                        <a:buNone/>
                      </a:pPr>
                      <a:r>
                        <a:rPr lang="en-US" sz="1100" dirty="0">
                          <a:solidFill>
                            <a:srgbClr val="000000"/>
                          </a:solidFill>
                        </a:rPr>
                        <a:t>2</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000000"/>
                          </a:solidFill>
                        </a:rPr>
                        <a:t>Deep Embedding Model (2016)</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64748B"/>
                          </a:solidFill>
                        </a:rPr>
                        <a:t>Core technique</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43840">
                <a:tc>
                  <a:txBody>
                    <a:bodyPr/>
                    <a:lstStyle/>
                    <a:p>
                      <a:pPr algn="ctr" indent="0" marL="0">
                        <a:buNone/>
                      </a:pPr>
                      <a:r>
                        <a:rPr lang="en-US" sz="1100" dirty="0">
                          <a:solidFill>
                            <a:srgbClr val="000000"/>
                          </a:solidFill>
                        </a:rPr>
                        <a:t>3</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000000"/>
                          </a:solidFill>
                        </a:rPr>
                        <a:t>Generalized Continual ZSL</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64748B"/>
                          </a:solidFill>
                        </a:rPr>
                        <a:t>Advanced extension</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43840">
                <a:tc>
                  <a:txBody>
                    <a:bodyPr/>
                    <a:lstStyle/>
                    <a:p>
                      <a:pPr algn="ctr" indent="0" marL="0">
                        <a:buNone/>
                      </a:pPr>
                      <a:r>
                        <a:rPr lang="en-US" sz="1100" dirty="0">
                          <a:solidFill>
                            <a:srgbClr val="000000"/>
                          </a:solidFill>
                        </a:rPr>
                        <a:t>4</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000000"/>
                          </a:solidFill>
                        </a:rPr>
                        <a:t>Meta Metric Learners</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64748B"/>
                          </a:solidFill>
                        </a:rPr>
                        <a:t>Related approach</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243840">
                <a:tc>
                  <a:txBody>
                    <a:bodyPr/>
                    <a:lstStyle/>
                    <a:p>
                      <a:pPr algn="ctr" indent="0" marL="0">
                        <a:buNone/>
                      </a:pPr>
                      <a:r>
                        <a:rPr lang="en-US" sz="1100" dirty="0">
                          <a:solidFill>
                            <a:srgbClr val="000000"/>
                          </a:solidFill>
                        </a:rPr>
                        <a:t>5</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000000"/>
                          </a:solidFill>
                        </a:rPr>
                        <a:t>...applications last</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100" dirty="0">
                          <a:solidFill>
                            <a:srgbClr val="64748B"/>
                          </a:solidFill>
                        </a:rPr>
                        <a:t>Domain-specific</a:t>
                      </a:r>
                      <a:endParaRPr lang="en-US" sz="11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Technology Stack</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005840"/>
          <a:ext cx="8046720" cy="2926080"/>
        </p:xfrm>
        <a:graphic>
          <a:graphicData uri="http://schemas.openxmlformats.org/drawingml/2006/table">
            <a:tbl>
              <a:tblPr/>
              <a:tblGrid>
                <a:gridCol w="1828800"/>
                <a:gridCol w="2743200"/>
                <a:gridCol w="3474720"/>
              </a:tblGrid>
              <a:tr h="418011">
                <a:tc>
                  <a:txBody>
                    <a:bodyPr/>
                    <a:lstStyle/>
                    <a:p>
                      <a:pPr indent="0" marL="0">
                        <a:buNone/>
                      </a:pPr>
                      <a:r>
                        <a:rPr lang="en-US" sz="1300" b="1" dirty="0">
                          <a:solidFill>
                            <a:srgbClr val="FFFFFF"/>
                          </a:solidFill>
                        </a:rPr>
                        <a:t>Component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rPr>
                        <a:t>Technology</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rPr>
                        <a:t>Why</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r>
              <a:tr h="418011">
                <a:tc>
                  <a:txBody>
                    <a:bodyPr/>
                    <a:lstStyle/>
                    <a:p>
                      <a:pPr indent="0" marL="0">
                        <a:buNone/>
                      </a:pPr>
                      <a:r>
                        <a:rPr lang="en-US" sz="1300" dirty="0">
                          <a:solidFill>
                            <a:srgbClr val="000000"/>
                          </a:solidFill>
                        </a:rPr>
                        <a:t>Orchestration</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LangGraph</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Stateful cyclic graphs, conditional edges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8011">
                <a:tc>
                  <a:txBody>
                    <a:bodyPr/>
                    <a:lstStyle/>
                    <a:p>
                      <a:pPr indent="0" marL="0">
                        <a:buNone/>
                      </a:pPr>
                      <a:r>
                        <a:rPr lang="en-US" sz="1300" dirty="0">
                          <a:solidFill>
                            <a:srgbClr val="000000"/>
                          </a:solidFill>
                        </a:rPr>
                        <a:t>LLM</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Groq (Llama 3.3 70B)</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Free tier, fast inference on LPU</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8011">
                <a:tc>
                  <a:txBody>
                    <a:bodyPr/>
                    <a:lstStyle/>
                    <a:p>
                      <a:pPr indent="0" marL="0">
                        <a:buNone/>
                      </a:pPr>
                      <a:r>
                        <a:rPr lang="en-US" sz="1300" dirty="0">
                          <a:solidFill>
                            <a:srgbClr val="000000"/>
                          </a:solidFill>
                        </a:rPr>
                        <a:t>Retrieval</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arXiv + Semantic Scholar</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Multi-source coverage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8011">
                <a:tc>
                  <a:txBody>
                    <a:bodyPr/>
                    <a:lstStyle/>
                    <a:p>
                      <a:pPr indent="0" marL="0">
                        <a:buNone/>
                      </a:pPr>
                      <a:r>
                        <a:rPr lang="en-US" sz="1300" dirty="0">
                          <a:solidFill>
                            <a:srgbClr val="000000"/>
                          </a:solidFill>
                        </a:rPr>
                        <a:t>Framework</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LangChain v0.3+</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Prompt templates, chains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8011">
                <a:tc>
                  <a:txBody>
                    <a:bodyPr/>
                    <a:lstStyle/>
                    <a:p>
                      <a:pPr indent="0" marL="0">
                        <a:buNone/>
                      </a:pPr>
                      <a:r>
                        <a:rPr lang="en-US" sz="1300" dirty="0">
                          <a:solidFill>
                            <a:srgbClr val="000000"/>
                          </a:solidFill>
                        </a:rPr>
                        <a:t>State</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Python TypedDict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Type-safe, LangGraph native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18011">
                <a:tc>
                  <a:txBody>
                    <a:bodyPr/>
                    <a:lstStyle/>
                    <a:p>
                      <a:pPr indent="0" marL="0">
                        <a:buNone/>
                      </a:pPr>
                      <a:r>
                        <a:rPr lang="en-US" sz="1300" dirty="0">
                          <a:solidFill>
                            <a:srgbClr val="000000"/>
                          </a:solidFill>
                        </a:rPr>
                        <a:t>Evaluation</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300" b="1" dirty="0">
                          <a:solidFill>
                            <a:srgbClr val="000000"/>
                          </a:solidFill>
                        </a:rPr>
                        <a:t>Custom metrics.py</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Tool, planning, retrieval metrics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4" name="Shape 1"/>
          <p:cNvSpPr/>
          <p:nvPr/>
        </p:nvSpPr>
        <p:spPr>
          <a:xfrm>
            <a:off x="548640" y="3749040"/>
            <a:ext cx="8046720" cy="1097280"/>
          </a:xfrm>
          <a:prstGeom prst="rect">
            <a:avLst/>
          </a:prstGeom>
          <a:solidFill>
            <a:srgbClr val="FFF7ED"/>
          </a:solidFill>
          <a:ln/>
        </p:spPr>
      </p:sp>
      <p:sp>
        <p:nvSpPr>
          <p:cNvPr id="5" name="Text 2"/>
          <p:cNvSpPr/>
          <p:nvPr/>
        </p:nvSpPr>
        <p:spPr>
          <a:xfrm>
            <a:off x="731520" y="3794760"/>
            <a:ext cx="7315200" cy="320040"/>
          </a:xfrm>
          <a:prstGeom prst="rect">
            <a:avLst/>
          </a:prstGeom>
          <a:noFill/>
          <a:ln/>
        </p:spPr>
        <p:txBody>
          <a:bodyPr wrap="square" rtlCol="0" anchor="ctr"/>
          <a:lstStyle/>
          <a:p>
            <a:pPr indent="0" marL="0">
              <a:buNone/>
            </a:pPr>
            <a:r>
              <a:rPr lang="en-US" sz="1400" b="1" dirty="0">
                <a:solidFill>
                  <a:srgbClr val="EA580C"/>
                </a:solidFill>
                <a:latin typeface="Georgia" pitchFamily="34" charset="0"/>
                <a:ea typeface="Georgia" pitchFamily="34" charset="-122"/>
                <a:cs typeface="Georgia" pitchFamily="34" charset="-120"/>
              </a:rPr>
              <a:t>LLM Provider Journey</a:t>
            </a:r>
            <a:endParaRPr lang="en-US" sz="1400" dirty="0"/>
          </a:p>
        </p:txBody>
      </p:sp>
      <p:sp>
        <p:nvSpPr>
          <p:cNvPr id="6" name="Text 3"/>
          <p:cNvSpPr/>
          <p:nvPr/>
        </p:nvSpPr>
        <p:spPr>
          <a:xfrm>
            <a:off x="731520" y="4114800"/>
            <a:ext cx="7680960" cy="64008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Gemini 2.0 (quota exhausted) → Llama 3.1 (deprecated) → Llama 3.3 (current)</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Each switch: ~5 minutes, one line per agent file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Results — Agentic vs. Baseline</a:t>
            </a:r>
            <a:endParaRPr lang="en-US" sz="2400" dirty="0"/>
          </a:p>
        </p:txBody>
      </p:sp>
      <p:sp>
        <p:nvSpPr>
          <p:cNvPr id="3" name="Shape 1"/>
          <p:cNvSpPr/>
          <p:nvPr/>
        </p:nvSpPr>
        <p:spPr>
          <a:xfrm>
            <a:off x="457200" y="914400"/>
            <a:ext cx="1828800" cy="1463040"/>
          </a:xfrm>
          <a:prstGeom prst="rect">
            <a:avLst/>
          </a:prstGeom>
          <a:solidFill>
            <a:srgbClr val="F0F4F8"/>
          </a:solidFill>
          <a:ln/>
        </p:spPr>
      </p:sp>
      <p:sp>
        <p:nvSpPr>
          <p:cNvPr id="4" name="Text 2"/>
          <p:cNvSpPr/>
          <p:nvPr/>
        </p:nvSpPr>
        <p:spPr>
          <a:xfrm>
            <a:off x="457200" y="960120"/>
            <a:ext cx="1828800" cy="8229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17</a:t>
            </a:r>
            <a:endParaRPr lang="en-US" sz="4200" dirty="0"/>
          </a:p>
        </p:txBody>
      </p:sp>
      <p:sp>
        <p:nvSpPr>
          <p:cNvPr id="5" name="Text 3"/>
          <p:cNvSpPr/>
          <p:nvPr/>
        </p:nvSpPr>
        <p:spPr>
          <a:xfrm>
            <a:off x="457200" y="1737360"/>
            <a:ext cx="1828800" cy="5943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Papers Found</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(vs 10 baseline)</a:t>
            </a:r>
            <a:endParaRPr lang="en-US" sz="1100" dirty="0"/>
          </a:p>
        </p:txBody>
      </p:sp>
      <p:sp>
        <p:nvSpPr>
          <p:cNvPr id="6" name="Shape 4"/>
          <p:cNvSpPr/>
          <p:nvPr/>
        </p:nvSpPr>
        <p:spPr>
          <a:xfrm>
            <a:off x="2468880" y="914400"/>
            <a:ext cx="1828800" cy="1463040"/>
          </a:xfrm>
          <a:prstGeom prst="rect">
            <a:avLst/>
          </a:prstGeom>
          <a:solidFill>
            <a:srgbClr val="F0F4F8"/>
          </a:solidFill>
          <a:ln/>
        </p:spPr>
      </p:sp>
      <p:sp>
        <p:nvSpPr>
          <p:cNvPr id="7" name="Text 5"/>
          <p:cNvSpPr/>
          <p:nvPr/>
        </p:nvSpPr>
        <p:spPr>
          <a:xfrm>
            <a:off x="2468880" y="960120"/>
            <a:ext cx="1828800" cy="8229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11</a:t>
            </a:r>
            <a:endParaRPr lang="en-US" sz="4200" dirty="0"/>
          </a:p>
        </p:txBody>
      </p:sp>
      <p:sp>
        <p:nvSpPr>
          <p:cNvPr id="8" name="Text 6"/>
          <p:cNvSpPr/>
          <p:nvPr/>
        </p:nvSpPr>
        <p:spPr>
          <a:xfrm>
            <a:off x="2468880" y="1737360"/>
            <a:ext cx="1828800" cy="5943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After Screening</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(65% retention)</a:t>
            </a:r>
            <a:endParaRPr lang="en-US" sz="1100" dirty="0"/>
          </a:p>
        </p:txBody>
      </p:sp>
      <p:sp>
        <p:nvSpPr>
          <p:cNvPr id="9" name="Shape 7"/>
          <p:cNvSpPr/>
          <p:nvPr/>
        </p:nvSpPr>
        <p:spPr>
          <a:xfrm>
            <a:off x="4480560" y="914400"/>
            <a:ext cx="1828800" cy="1463040"/>
          </a:xfrm>
          <a:prstGeom prst="rect">
            <a:avLst/>
          </a:prstGeom>
          <a:solidFill>
            <a:srgbClr val="F0F4F8"/>
          </a:solidFill>
          <a:ln/>
        </p:spPr>
      </p:sp>
      <p:sp>
        <p:nvSpPr>
          <p:cNvPr id="10" name="Text 8"/>
          <p:cNvSpPr/>
          <p:nvPr/>
        </p:nvSpPr>
        <p:spPr>
          <a:xfrm>
            <a:off x="4480560" y="960120"/>
            <a:ext cx="1828800" cy="8229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5</a:t>
            </a:r>
            <a:endParaRPr lang="en-US" sz="4200" dirty="0"/>
          </a:p>
        </p:txBody>
      </p:sp>
      <p:sp>
        <p:nvSpPr>
          <p:cNvPr id="11" name="Text 9"/>
          <p:cNvSpPr/>
          <p:nvPr/>
        </p:nvSpPr>
        <p:spPr>
          <a:xfrm>
            <a:off x="4480560" y="1737360"/>
            <a:ext cx="1828800" cy="5943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Themes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Identified</a:t>
            </a:r>
            <a:endParaRPr lang="en-US" sz="1100" dirty="0"/>
          </a:p>
        </p:txBody>
      </p:sp>
      <p:sp>
        <p:nvSpPr>
          <p:cNvPr id="12" name="Shape 10"/>
          <p:cNvSpPr/>
          <p:nvPr/>
        </p:nvSpPr>
        <p:spPr>
          <a:xfrm>
            <a:off x="6492240" y="914400"/>
            <a:ext cx="1828800" cy="1463040"/>
          </a:xfrm>
          <a:prstGeom prst="rect">
            <a:avLst/>
          </a:prstGeom>
          <a:solidFill>
            <a:srgbClr val="F0F4F8"/>
          </a:solidFill>
          <a:ln/>
        </p:spPr>
      </p:sp>
      <p:sp>
        <p:nvSpPr>
          <p:cNvPr id="13" name="Text 11"/>
          <p:cNvSpPr/>
          <p:nvPr/>
        </p:nvSpPr>
        <p:spPr>
          <a:xfrm>
            <a:off x="6492240" y="960120"/>
            <a:ext cx="1828800" cy="822960"/>
          </a:xfrm>
          <a:prstGeom prst="rect">
            <a:avLst/>
          </a:prstGeom>
          <a:noFill/>
          <a:ln/>
        </p:spPr>
        <p:txBody>
          <a:bodyPr wrap="square" lIns="0" tIns="0" rIns="0" bIns="0" rtlCol="0" anchor="ctr"/>
          <a:lstStyle/>
          <a:p>
            <a:pPr algn="ctr" indent="0" marL="0">
              <a:buNone/>
            </a:pPr>
            <a:r>
              <a:rPr lang="en-US" sz="4200" b="1" dirty="0">
                <a:solidFill>
                  <a:srgbClr val="065A82"/>
                </a:solidFill>
                <a:latin typeface="Georgia" pitchFamily="34" charset="0"/>
                <a:ea typeface="Georgia" pitchFamily="34" charset="-122"/>
                <a:cs typeface="Georgia" pitchFamily="34" charset="-120"/>
              </a:rPr>
              <a:t>11</a:t>
            </a:r>
            <a:endParaRPr lang="en-US" sz="4200" dirty="0"/>
          </a:p>
        </p:txBody>
      </p:sp>
      <p:sp>
        <p:nvSpPr>
          <p:cNvPr id="14" name="Text 12"/>
          <p:cNvSpPr/>
          <p:nvPr/>
        </p:nvSpPr>
        <p:spPr>
          <a:xfrm>
            <a:off x="6492240" y="1737360"/>
            <a:ext cx="1828800" cy="594360"/>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Papers in</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Reading Order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Evaluation Metrics (Week 9 Framework)</a:t>
            </a:r>
            <a:endParaRPr lang="en-US" sz="2400" dirty="0"/>
          </a:p>
        </p:txBody>
      </p:sp>
      <p:sp>
        <p:nvSpPr>
          <p:cNvPr id="3" name="Shape 1"/>
          <p:cNvSpPr/>
          <p:nvPr/>
        </p:nvSpPr>
        <p:spPr>
          <a:xfrm>
            <a:off x="457200" y="914400"/>
            <a:ext cx="4023360" cy="1371600"/>
          </a:xfrm>
          <a:prstGeom prst="rect">
            <a:avLst/>
          </a:prstGeom>
          <a:solidFill>
            <a:srgbClr val="DBEAFE"/>
          </a:solidFill>
          <a:ln/>
        </p:spPr>
      </p:sp>
      <p:sp>
        <p:nvSpPr>
          <p:cNvPr id="4" name="Text 2"/>
          <p:cNvSpPr/>
          <p:nvPr/>
        </p:nvSpPr>
        <p:spPr>
          <a:xfrm>
            <a:off x="640080" y="1005840"/>
            <a:ext cx="3657600" cy="365760"/>
          </a:xfrm>
          <a:prstGeom prst="rect">
            <a:avLst/>
          </a:prstGeom>
          <a:noFill/>
          <a:ln/>
        </p:spPr>
        <p:txBody>
          <a:bodyPr wrap="square" lIns="0" tIns="0" rIns="0" bIns="0" rtlCol="0" anchor="ctr"/>
          <a:lstStyle/>
          <a:p>
            <a:pPr indent="0" marL="0">
              <a:buNone/>
            </a:pPr>
            <a:r>
              <a:rPr lang="en-US" sz="1600" b="1" dirty="0">
                <a:solidFill>
                  <a:srgbClr val="1E40AF"/>
                </a:solidFill>
                <a:latin typeface="Georgia" pitchFamily="34" charset="0"/>
                <a:ea typeface="Georgia" pitchFamily="34" charset="-122"/>
                <a:cs typeface="Georgia" pitchFamily="34" charset="-120"/>
              </a:rPr>
              <a:t>Tool Metrics</a:t>
            </a:r>
            <a:endParaRPr lang="en-US" sz="1600" dirty="0"/>
          </a:p>
        </p:txBody>
      </p:sp>
      <p:sp>
        <p:nvSpPr>
          <p:cNvPr id="5" name="Text 3"/>
          <p:cNvSpPr/>
          <p:nvPr/>
        </p:nvSpPr>
        <p:spPr>
          <a:xfrm>
            <a:off x="640080" y="1417320"/>
            <a:ext cx="3657600" cy="7772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Selection: 1.00</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Execution: 4/4 PASS</a:t>
            </a:r>
            <a:endParaRPr lang="en-US" sz="1300" dirty="0"/>
          </a:p>
        </p:txBody>
      </p:sp>
      <p:sp>
        <p:nvSpPr>
          <p:cNvPr id="6" name="Shape 4"/>
          <p:cNvSpPr/>
          <p:nvPr/>
        </p:nvSpPr>
        <p:spPr>
          <a:xfrm>
            <a:off x="4663440" y="914400"/>
            <a:ext cx="4023360" cy="1371600"/>
          </a:xfrm>
          <a:prstGeom prst="rect">
            <a:avLst/>
          </a:prstGeom>
          <a:solidFill>
            <a:srgbClr val="E0E7FF"/>
          </a:solidFill>
          <a:ln/>
        </p:spPr>
      </p:sp>
      <p:sp>
        <p:nvSpPr>
          <p:cNvPr id="7" name="Text 5"/>
          <p:cNvSpPr/>
          <p:nvPr/>
        </p:nvSpPr>
        <p:spPr>
          <a:xfrm>
            <a:off x="4846320" y="1005840"/>
            <a:ext cx="3657600" cy="365760"/>
          </a:xfrm>
          <a:prstGeom prst="rect">
            <a:avLst/>
          </a:prstGeom>
          <a:noFill/>
          <a:ln/>
        </p:spPr>
        <p:txBody>
          <a:bodyPr wrap="square" lIns="0" tIns="0" rIns="0" bIns="0" rtlCol="0" anchor="ctr"/>
          <a:lstStyle/>
          <a:p>
            <a:pPr indent="0" marL="0">
              <a:buNone/>
            </a:pPr>
            <a:r>
              <a:rPr lang="en-US" sz="1600" b="1" dirty="0">
                <a:solidFill>
                  <a:srgbClr val="3730A3"/>
                </a:solidFill>
                <a:latin typeface="Georgia" pitchFamily="34" charset="0"/>
                <a:ea typeface="Georgia" pitchFamily="34" charset="-122"/>
                <a:cs typeface="Georgia" pitchFamily="34" charset="-120"/>
              </a:rPr>
              <a:t>Planning Metrics</a:t>
            </a:r>
            <a:endParaRPr lang="en-US" sz="1600" dirty="0"/>
          </a:p>
        </p:txBody>
      </p:sp>
      <p:sp>
        <p:nvSpPr>
          <p:cNvPr id="8" name="Text 6"/>
          <p:cNvSpPr/>
          <p:nvPr/>
        </p:nvSpPr>
        <p:spPr>
          <a:xfrm>
            <a:off x="4846320" y="1417320"/>
            <a:ext cx="3657600" cy="7772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Steps: 7/7 PASS</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Tasks: 4/4 complete</a:t>
            </a:r>
            <a:endParaRPr lang="en-US" sz="1300" dirty="0"/>
          </a:p>
        </p:txBody>
      </p:sp>
      <p:sp>
        <p:nvSpPr>
          <p:cNvPr id="9" name="Shape 7"/>
          <p:cNvSpPr/>
          <p:nvPr/>
        </p:nvSpPr>
        <p:spPr>
          <a:xfrm>
            <a:off x="457200" y="2560320"/>
            <a:ext cx="4023360" cy="1371600"/>
          </a:xfrm>
          <a:prstGeom prst="rect">
            <a:avLst/>
          </a:prstGeom>
          <a:solidFill>
            <a:srgbClr val="DCFCE7"/>
          </a:solidFill>
          <a:ln/>
        </p:spPr>
      </p:sp>
      <p:sp>
        <p:nvSpPr>
          <p:cNvPr id="10" name="Text 8"/>
          <p:cNvSpPr/>
          <p:nvPr/>
        </p:nvSpPr>
        <p:spPr>
          <a:xfrm>
            <a:off x="640080" y="2651760"/>
            <a:ext cx="3657600" cy="365760"/>
          </a:xfrm>
          <a:prstGeom prst="rect">
            <a:avLst/>
          </a:prstGeom>
          <a:noFill/>
          <a:ln/>
        </p:spPr>
        <p:txBody>
          <a:bodyPr wrap="square" lIns="0" tIns="0" rIns="0" bIns="0" rtlCol="0" anchor="ctr"/>
          <a:lstStyle/>
          <a:p>
            <a:pPr indent="0" marL="0">
              <a:buNone/>
            </a:pPr>
            <a:r>
              <a:rPr lang="en-US" sz="1600" b="1" dirty="0">
                <a:solidFill>
                  <a:srgbClr val="166534"/>
                </a:solidFill>
                <a:latin typeface="Georgia" pitchFamily="34" charset="0"/>
                <a:ea typeface="Georgia" pitchFamily="34" charset="-122"/>
                <a:cs typeface="Georgia" pitchFamily="34" charset="-120"/>
              </a:rPr>
              <a:t>Retrieval Metrics</a:t>
            </a:r>
            <a:endParaRPr lang="en-US" sz="1600" dirty="0"/>
          </a:p>
        </p:txBody>
      </p:sp>
      <p:sp>
        <p:nvSpPr>
          <p:cNvPr id="11" name="Text 9"/>
          <p:cNvSpPr/>
          <p:nvPr/>
        </p:nvSpPr>
        <p:spPr>
          <a:xfrm>
            <a:off x="640080" y="3063240"/>
            <a:ext cx="3657600" cy="7772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Precision: 1.00</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Coverage: 65%</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Source diversity: 0.31</a:t>
            </a:r>
            <a:endParaRPr lang="en-US" sz="1300" dirty="0"/>
          </a:p>
        </p:txBody>
      </p:sp>
      <p:sp>
        <p:nvSpPr>
          <p:cNvPr id="12" name="Shape 10"/>
          <p:cNvSpPr/>
          <p:nvPr/>
        </p:nvSpPr>
        <p:spPr>
          <a:xfrm>
            <a:off x="4663440" y="2560320"/>
            <a:ext cx="4023360" cy="1371600"/>
          </a:xfrm>
          <a:prstGeom prst="rect">
            <a:avLst/>
          </a:prstGeom>
          <a:solidFill>
            <a:srgbClr val="FEF3C7"/>
          </a:solidFill>
          <a:ln/>
        </p:spPr>
      </p:sp>
      <p:sp>
        <p:nvSpPr>
          <p:cNvPr id="13" name="Text 11"/>
          <p:cNvSpPr/>
          <p:nvPr/>
        </p:nvSpPr>
        <p:spPr>
          <a:xfrm>
            <a:off x="4846320" y="2651760"/>
            <a:ext cx="3657600" cy="365760"/>
          </a:xfrm>
          <a:prstGeom prst="rect">
            <a:avLst/>
          </a:prstGeom>
          <a:noFill/>
          <a:ln/>
        </p:spPr>
        <p:txBody>
          <a:bodyPr wrap="square" lIns="0" tIns="0" rIns="0" bIns="0" rtlCol="0" anchor="ctr"/>
          <a:lstStyle/>
          <a:p>
            <a:pPr indent="0" marL="0">
              <a:buNone/>
            </a:pPr>
            <a:r>
              <a:rPr lang="en-US" sz="1600" b="1" dirty="0">
                <a:solidFill>
                  <a:srgbClr val="92400E"/>
                </a:solidFill>
                <a:latin typeface="Georgia" pitchFamily="34" charset="0"/>
                <a:ea typeface="Georgia" pitchFamily="34" charset="-122"/>
                <a:cs typeface="Georgia" pitchFamily="34" charset="-120"/>
              </a:rPr>
              <a:t>Efficiency</a:t>
            </a:r>
            <a:endParaRPr lang="en-US" sz="1600" dirty="0"/>
          </a:p>
        </p:txBody>
      </p:sp>
      <p:sp>
        <p:nvSpPr>
          <p:cNvPr id="14" name="Text 12"/>
          <p:cNvSpPr/>
          <p:nvPr/>
        </p:nvSpPr>
        <p:spPr>
          <a:xfrm>
            <a:off x="4846320" y="3063240"/>
            <a:ext cx="3657600" cy="77724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Time: 55.6s total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LLM calls: ~4 (1 per agent)</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Time/paper: 3.27s</a:t>
            </a:r>
            <a:endParaRPr lang="en-US" sz="1300" dirty="0"/>
          </a:p>
        </p:txBody>
      </p:sp>
      <p:sp>
        <p:nvSpPr>
          <p:cNvPr id="15" name="Text 13"/>
          <p:cNvSpPr/>
          <p:nvPr/>
        </p:nvSpPr>
        <p:spPr>
          <a:xfrm>
            <a:off x="548640" y="4206240"/>
            <a:ext cx="8229600" cy="45720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All stages PASS across both topics (zero-shot learning + RLHF)</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Learning Path — How It Works</a:t>
            </a:r>
            <a:endParaRPr lang="en-US" sz="2400" dirty="0"/>
          </a:p>
        </p:txBody>
      </p:sp>
      <p:sp>
        <p:nvSpPr>
          <p:cNvPr id="3" name="Text 1"/>
          <p:cNvSpPr/>
          <p:nvPr/>
        </p:nvSpPr>
        <p:spPr>
          <a:xfrm>
            <a:off x="548640" y="914400"/>
            <a:ext cx="3657600" cy="365760"/>
          </a:xfrm>
          <a:prstGeom prst="rect">
            <a:avLst/>
          </a:prstGeom>
          <a:noFill/>
          <a:ln/>
        </p:spPr>
        <p:txBody>
          <a:bodyPr wrap="square" rtlCol="0" anchor="ctr"/>
          <a:lstStyle/>
          <a:p>
            <a:pPr indent="0" marL="0">
              <a:buNone/>
            </a:pPr>
            <a:r>
              <a:rPr lang="en-US" sz="1600" b="1" dirty="0">
                <a:solidFill>
                  <a:srgbClr val="065A82"/>
                </a:solidFill>
                <a:latin typeface="Georgia" pitchFamily="34" charset="0"/>
                <a:ea typeface="Georgia" pitchFamily="34" charset="-122"/>
                <a:cs typeface="Georgia" pitchFamily="34" charset="-120"/>
              </a:rPr>
              <a:t>Ordering Criteria</a:t>
            </a:r>
            <a:endParaRPr lang="en-US" sz="1600" dirty="0"/>
          </a:p>
        </p:txBody>
      </p:sp>
      <p:sp>
        <p:nvSpPr>
          <p:cNvPr id="4" name="Text 2"/>
          <p:cNvSpPr/>
          <p:nvPr/>
        </p:nvSpPr>
        <p:spPr>
          <a:xfrm>
            <a:off x="548640" y="1371600"/>
            <a:ext cx="4114800" cy="228600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Survey papers come first</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Foundational concepts before extensions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Older seminal works before newer builds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General before specialized</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LLM reasons from summaries + abstracts</a:t>
            </a:r>
            <a:endParaRPr lang="en-US" sz="1400" dirty="0"/>
          </a:p>
        </p:txBody>
      </p:sp>
      <p:sp>
        <p:nvSpPr>
          <p:cNvPr id="5" name="Shape 3"/>
          <p:cNvSpPr/>
          <p:nvPr/>
        </p:nvSpPr>
        <p:spPr>
          <a:xfrm>
            <a:off x="4846320" y="914400"/>
            <a:ext cx="3931920" cy="2286000"/>
          </a:xfrm>
          <a:prstGeom prst="rect">
            <a:avLst/>
          </a:prstGeom>
          <a:solidFill>
            <a:srgbClr val="F0F4F8"/>
          </a:solidFill>
          <a:ln/>
        </p:spPr>
      </p:sp>
      <p:sp>
        <p:nvSpPr>
          <p:cNvPr id="6" name="Text 4"/>
          <p:cNvSpPr/>
          <p:nvPr/>
        </p:nvSpPr>
        <p:spPr>
          <a:xfrm>
            <a:off x="5029200" y="1005840"/>
            <a:ext cx="3657600" cy="365760"/>
          </a:xfrm>
          <a:prstGeom prst="rect">
            <a:avLst/>
          </a:prstGeom>
          <a:noFill/>
          <a:ln/>
        </p:spPr>
        <p:txBody>
          <a:bodyPr wrap="square" rtlCol="0" anchor="ctr"/>
          <a:lstStyle/>
          <a:p>
            <a:pPr indent="0" marL="0">
              <a:buNone/>
            </a:pPr>
            <a:r>
              <a:rPr lang="en-US" sz="1600" b="1" dirty="0">
                <a:solidFill>
                  <a:srgbClr val="1E293B"/>
                </a:solidFill>
                <a:latin typeface="Georgia" pitchFamily="34" charset="0"/>
                <a:ea typeface="Georgia" pitchFamily="34" charset="-122"/>
                <a:cs typeface="Georgia" pitchFamily="34" charset="-120"/>
              </a:rPr>
              <a:t>Why this matters</a:t>
            </a:r>
            <a:endParaRPr lang="en-US" sz="1600" dirty="0"/>
          </a:p>
        </p:txBody>
      </p:sp>
      <p:sp>
        <p:nvSpPr>
          <p:cNvPr id="7" name="Text 5"/>
          <p:cNvSpPr/>
          <p:nvPr/>
        </p:nvSpPr>
        <p:spPr>
          <a:xfrm>
            <a:off x="5029200" y="1463040"/>
            <a:ext cx="3566160" cy="1645920"/>
          </a:xfrm>
          <a:prstGeom prst="rect">
            <a:avLst/>
          </a:prstGeom>
          <a:noFill/>
          <a:ln/>
        </p:spPr>
        <p:txBody>
          <a:bodyPr wrap="square" rtlCol="0" anchor="t"/>
          <a:lstStyle/>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No existing tool does this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Connected Papers: citation only</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Semantic Scholar: no ordering</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Elicit: no cross-paper analysis</a:t>
            </a:r>
            <a:endParaRPr lang="en-US" sz="1300" dirty="0"/>
          </a:p>
          <a:p>
            <a:pPr marL="342900" indent="-342900">
              <a:spcAft>
                <a:spcPts val="600"/>
              </a:spcAft>
              <a:buSzPct val="100000"/>
              <a:buChar char="•"/>
            </a:pPr>
            <a:r>
              <a:rPr lang="en-US" sz="1300" dirty="0">
                <a:solidFill>
                  <a:srgbClr val="1E293B"/>
                </a:solidFill>
                <a:latin typeface="Calibri" pitchFamily="34" charset="0"/>
                <a:ea typeface="Calibri" pitchFamily="34" charset="-122"/>
                <a:cs typeface="Calibri" pitchFamily="34" charset="-120"/>
              </a:rPr>
              <a:t>Ours: concept-aware sequencing</a:t>
            </a:r>
            <a:endParaRPr lang="en-US" sz="1300" dirty="0"/>
          </a:p>
        </p:txBody>
      </p:sp>
      <p:sp>
        <p:nvSpPr>
          <p:cNvPr id="8" name="Shape 6"/>
          <p:cNvSpPr/>
          <p:nvPr/>
        </p:nvSpPr>
        <p:spPr>
          <a:xfrm>
            <a:off x="457200" y="3474720"/>
            <a:ext cx="8321040" cy="1280160"/>
          </a:xfrm>
          <a:prstGeom prst="rect">
            <a:avLst/>
          </a:prstGeom>
          <a:solidFill>
            <a:srgbClr val="F0FDF4"/>
          </a:solidFill>
          <a:ln w="12700">
            <a:solidFill>
              <a:srgbClr val="86EFAC"/>
            </a:solidFill>
            <a:prstDash val="solid"/>
          </a:ln>
        </p:spPr>
      </p:sp>
      <p:sp>
        <p:nvSpPr>
          <p:cNvPr id="9" name="Text 7"/>
          <p:cNvSpPr/>
          <p:nvPr/>
        </p:nvSpPr>
        <p:spPr>
          <a:xfrm>
            <a:off x="640080" y="3566160"/>
            <a:ext cx="7955280" cy="365760"/>
          </a:xfrm>
          <a:prstGeom prst="rect">
            <a:avLst/>
          </a:prstGeom>
          <a:noFill/>
          <a:ln/>
        </p:spPr>
        <p:txBody>
          <a:bodyPr wrap="square" rtlCol="0" anchor="ctr"/>
          <a:lstStyle/>
          <a:p>
            <a:pPr indent="0" marL="0">
              <a:buNone/>
            </a:pPr>
            <a:r>
              <a:rPr lang="en-US" sz="1400" b="1" dirty="0">
                <a:solidFill>
                  <a:srgbClr val="059669"/>
                </a:solidFill>
                <a:latin typeface="Calibri" pitchFamily="34" charset="0"/>
                <a:ea typeface="Calibri" pitchFamily="34" charset="-122"/>
                <a:cs typeface="Calibri" pitchFamily="34" charset="-120"/>
              </a:rPr>
              <a:t>Survey → Foundational Technique → Extensions → Meta-Learning → Applications</a:t>
            </a:r>
            <a:endParaRPr lang="en-US" sz="1400" dirty="0"/>
          </a:p>
        </p:txBody>
      </p:sp>
      <p:sp>
        <p:nvSpPr>
          <p:cNvPr id="10" name="Text 8"/>
          <p:cNvSpPr/>
          <p:nvPr/>
        </p:nvSpPr>
        <p:spPr>
          <a:xfrm>
            <a:off x="640080" y="4023360"/>
            <a:ext cx="7955280" cy="365760"/>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Produced automatically — no domain rules, no citation graph needed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Challenges &amp; Solutions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321040" cy="3200400"/>
        </p:xfrm>
        <a:graphic>
          <a:graphicData uri="http://schemas.openxmlformats.org/drawingml/2006/table">
            <a:tbl>
              <a:tblPr/>
              <a:tblGrid>
                <a:gridCol w="2286000"/>
                <a:gridCol w="2560320"/>
                <a:gridCol w="3474720"/>
              </a:tblGrid>
              <a:tr h="457200">
                <a:tc>
                  <a:txBody>
                    <a:bodyPr/>
                    <a:lstStyle/>
                    <a:p>
                      <a:pPr indent="0" marL="0">
                        <a:buNone/>
                      </a:pPr>
                      <a:r>
                        <a:rPr lang="en-US" sz="1300" b="1" dirty="0">
                          <a:solidFill>
                            <a:srgbClr val="FFFFFF"/>
                          </a:solidFill>
                        </a:rPr>
                        <a:t>Challenge</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rPr>
                        <a:t>Impact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1295C"/>
                    </a:solidFill>
                  </a:tcPr>
                </a:tc>
                <a:tc>
                  <a:txBody>
                    <a:bodyPr/>
                    <a:lstStyle/>
                    <a:p>
                      <a:pPr indent="0" marL="0">
                        <a:buNone/>
                      </a:pPr>
                      <a:r>
                        <a:rPr lang="en-US" sz="1300" b="1" dirty="0">
                          <a:solidFill>
                            <a:srgbClr val="FFFFFF"/>
                          </a:solidFill>
                        </a:rPr>
                        <a:t>Resolution</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21295C"/>
                    </a:solidFill>
                  </a:tcPr>
                </a:tc>
              </a:tr>
              <a:tr h="457200">
                <a:tc>
                  <a:txBody>
                    <a:bodyPr/>
                    <a:lstStyle/>
                    <a:p>
                      <a:pPr indent="0" marL="0">
                        <a:buNone/>
                      </a:pPr>
                      <a:r>
                        <a:rPr lang="en-US" sz="1200" dirty="0">
                          <a:solidFill>
                            <a:srgbClr val="000000"/>
                          </a:solidFill>
                        </a:rPr>
                        <a:t>Gemini quota exhausted</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System unusable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Switched to Groq in 5 min</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dirty="0">
                          <a:solidFill>
                            <a:srgbClr val="000000"/>
                          </a:solidFill>
                        </a:rPr>
                        <a:t>Llama 3.1 deprecated</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Model unavailable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Updated to 3.3 (one line)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dirty="0">
                          <a:solidFill>
                            <a:srgbClr val="000000"/>
                          </a:solidFill>
                        </a:rPr>
                        <a:t>Semantic Scholar 429s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Missing papers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Graceful arXiv fallback</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dirty="0">
                          <a:solidFill>
                            <a:srgbClr val="000000"/>
                          </a:solidFill>
                        </a:rPr>
                        <a:t>LLM parse failures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Pipeline crash risk</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Default values everywhere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dirty="0">
                          <a:solidFill>
                            <a:srgbClr val="000000"/>
                          </a:solidFill>
                        </a:rPr>
                        <a:t>LangChain v0.3 imports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Module errors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Updated to langchain_core</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dirty="0">
                          <a:solidFill>
                            <a:srgbClr val="000000"/>
                          </a:solidFill>
                        </a:rPr>
                        <a:t>dotenv path issues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Key not found</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find_dotenv() traversal</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CIS 600 Course Alignment</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321040" cy="2743200"/>
        </p:xfrm>
        <a:graphic>
          <a:graphicData uri="http://schemas.openxmlformats.org/drawingml/2006/table">
            <a:tbl>
              <a:tblPr/>
              <a:tblGrid>
                <a:gridCol w="1188720"/>
                <a:gridCol w="2286000"/>
                <a:gridCol w="4846320"/>
              </a:tblGrid>
              <a:tr h="457200">
                <a:tc>
                  <a:txBody>
                    <a:bodyPr/>
                    <a:lstStyle/>
                    <a:p>
                      <a:pPr indent="0" marL="0">
                        <a:buNone/>
                      </a:pPr>
                      <a:r>
                        <a:rPr lang="en-US" sz="1300" b="1" dirty="0">
                          <a:solidFill>
                            <a:srgbClr val="FFFFFF"/>
                          </a:solidFill>
                        </a:rPr>
                        <a:t>Week</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rPr>
                        <a:t>Concept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rPr>
                        <a:t>How We Used It</a:t>
                      </a:r>
                      <a:endParaRPr lang="en-US" sz="13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065A82"/>
                    </a:solidFill>
                  </a:tcPr>
                </a:tc>
              </a:tr>
              <a:tr h="457200">
                <a:tc>
                  <a:txBody>
                    <a:bodyPr/>
                    <a:lstStyle/>
                    <a:p>
                      <a:pPr indent="0" marL="0">
                        <a:buNone/>
                      </a:pPr>
                      <a:r>
                        <a:rPr lang="en-US" sz="1200" b="1" dirty="0">
                          <a:solidFill>
                            <a:srgbClr val="000000"/>
                          </a:solidFill>
                        </a:rPr>
                        <a:t>Week 2</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LLMs as Agents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Groq Llama 3.3 powers all four agents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b="1" dirty="0">
                          <a:solidFill>
                            <a:srgbClr val="000000"/>
                          </a:solidFill>
                        </a:rPr>
                        <a:t>Week 4</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LangGraph</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StateGraph + conditional edges + orchestrator-workers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b="1" dirty="0">
                          <a:solidFill>
                            <a:srgbClr val="000000"/>
                          </a:solidFill>
                        </a:rPr>
                        <a:t>Week 5</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Agentic RAG</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Multi-source retrieval + LLM screening</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b="1" dirty="0">
                          <a:solidFill>
                            <a:srgbClr val="000000"/>
                          </a:solidFill>
                        </a:rPr>
                        <a:t>Week 7</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Tool Integration</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arXiv + Semantic Scholar API wrappers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indent="0" marL="0">
                        <a:buNone/>
                      </a:pPr>
                      <a:r>
                        <a:rPr lang="en-US" sz="1200" b="1" dirty="0">
                          <a:solidFill>
                            <a:srgbClr val="000000"/>
                          </a:solidFill>
                        </a:rPr>
                        <a:t>Week 9</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Evaluating Agents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indent="0" marL="0">
                        <a:buNone/>
                      </a:pPr>
                      <a:r>
                        <a:rPr lang="en-US" sz="1200" dirty="0">
                          <a:solidFill>
                            <a:srgbClr val="000000"/>
                          </a:solidFill>
                        </a:rPr>
                        <a:t>Tool, planning, retrieval, efficiency metrics</a:t>
                      </a:r>
                      <a:endParaRPr lang="en-US" sz="1200" dirty="0"/>
                    </a:p>
                  </a:txBody>
                  <a:tcPr marL="91440" marR="91440" marT="45720" marB="45720">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28600"/>
            <a:ext cx="8046720" cy="548640"/>
          </a:xfrm>
          <a:prstGeom prst="rect">
            <a:avLst/>
          </a:prstGeom>
          <a:noFill/>
          <a:ln/>
        </p:spPr>
        <p:txBody>
          <a:bodyPr wrap="square" lIns="0" tIns="0" rIns="0" bIns="0" rtlCol="0" anchor="ctr"/>
          <a:lstStyle/>
          <a:p>
            <a:pPr indent="0" marL="0">
              <a:buNone/>
            </a:pPr>
            <a:r>
              <a:rPr lang="en-US" sz="2400" b="1" dirty="0">
                <a:solidFill>
                  <a:srgbClr val="1E293B"/>
                </a:solidFill>
                <a:latin typeface="Georgia" pitchFamily="34" charset="0"/>
                <a:ea typeface="Georgia" pitchFamily="34" charset="-122"/>
                <a:cs typeface="Georgia" pitchFamily="34" charset="-120"/>
              </a:rPr>
              <a:t>Limitations &amp; Future Work</a:t>
            </a:r>
            <a:endParaRPr lang="en-US" sz="2400" dirty="0"/>
          </a:p>
        </p:txBody>
      </p:sp>
      <p:sp>
        <p:nvSpPr>
          <p:cNvPr id="3" name="Shape 1"/>
          <p:cNvSpPr/>
          <p:nvPr/>
        </p:nvSpPr>
        <p:spPr>
          <a:xfrm>
            <a:off x="457200" y="914400"/>
            <a:ext cx="3931920" cy="3200400"/>
          </a:xfrm>
          <a:prstGeom prst="rect">
            <a:avLst/>
          </a:prstGeom>
          <a:solidFill>
            <a:srgbClr val="FEF2F2"/>
          </a:solidFill>
          <a:ln/>
        </p:spPr>
      </p:sp>
      <p:sp>
        <p:nvSpPr>
          <p:cNvPr id="4" name="Text 2"/>
          <p:cNvSpPr/>
          <p:nvPr/>
        </p:nvSpPr>
        <p:spPr>
          <a:xfrm>
            <a:off x="640080" y="1005840"/>
            <a:ext cx="3657600" cy="365760"/>
          </a:xfrm>
          <a:prstGeom prst="rect">
            <a:avLst/>
          </a:prstGeom>
          <a:noFill/>
          <a:ln/>
        </p:spPr>
        <p:txBody>
          <a:bodyPr wrap="square" rtlCol="0" anchor="ctr"/>
          <a:lstStyle/>
          <a:p>
            <a:pPr indent="0" marL="0">
              <a:buNone/>
            </a:pPr>
            <a:r>
              <a:rPr lang="en-US" sz="1600" b="1" dirty="0">
                <a:solidFill>
                  <a:srgbClr val="DC2626"/>
                </a:solidFill>
                <a:latin typeface="Georgia" pitchFamily="34" charset="0"/>
                <a:ea typeface="Georgia" pitchFamily="34" charset="-122"/>
                <a:cs typeface="Georgia" pitchFamily="34" charset="-120"/>
              </a:rPr>
              <a:t>Limitations</a:t>
            </a:r>
            <a:endParaRPr lang="en-US" sz="1600" dirty="0"/>
          </a:p>
        </p:txBody>
      </p:sp>
      <p:sp>
        <p:nvSpPr>
          <p:cNvPr id="5" name="Text 3"/>
          <p:cNvSpPr/>
          <p:nvPr/>
        </p:nvSpPr>
        <p:spPr>
          <a:xfrm>
            <a:off x="640080" y="1463040"/>
            <a:ext cx="3566160" cy="256032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Semantic Scholar rate limits (429s)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Relevance scores not human-validated</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Reading order = LLM reasoning only</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Abstract-only (no full text)</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~4 LLM calls limits analysis depth</a:t>
            </a:r>
            <a:endParaRPr lang="en-US" sz="1400" dirty="0"/>
          </a:p>
        </p:txBody>
      </p:sp>
      <p:sp>
        <p:nvSpPr>
          <p:cNvPr id="6" name="Shape 4"/>
          <p:cNvSpPr/>
          <p:nvPr/>
        </p:nvSpPr>
        <p:spPr>
          <a:xfrm>
            <a:off x="4754880" y="914400"/>
            <a:ext cx="3931920" cy="3200400"/>
          </a:xfrm>
          <a:prstGeom prst="rect">
            <a:avLst/>
          </a:prstGeom>
          <a:solidFill>
            <a:srgbClr val="F0FDF4"/>
          </a:solidFill>
          <a:ln/>
        </p:spPr>
      </p:sp>
      <p:sp>
        <p:nvSpPr>
          <p:cNvPr id="7" name="Text 5"/>
          <p:cNvSpPr/>
          <p:nvPr/>
        </p:nvSpPr>
        <p:spPr>
          <a:xfrm>
            <a:off x="4937760" y="1005840"/>
            <a:ext cx="3657600" cy="365760"/>
          </a:xfrm>
          <a:prstGeom prst="rect">
            <a:avLst/>
          </a:prstGeom>
          <a:noFill/>
          <a:ln/>
        </p:spPr>
        <p:txBody>
          <a:bodyPr wrap="square" rtlCol="0" anchor="ctr"/>
          <a:lstStyle/>
          <a:p>
            <a:pPr indent="0" marL="0">
              <a:buNone/>
            </a:pPr>
            <a:r>
              <a:rPr lang="en-US" sz="1600" b="1" dirty="0">
                <a:solidFill>
                  <a:srgbClr val="059669"/>
                </a:solidFill>
                <a:latin typeface="Georgia" pitchFamily="34" charset="0"/>
                <a:ea typeface="Georgia" pitchFamily="34" charset="-122"/>
                <a:cs typeface="Georgia" pitchFamily="34" charset="-120"/>
              </a:rPr>
              <a:t>Future Work</a:t>
            </a:r>
            <a:endParaRPr lang="en-US" sz="1600" dirty="0"/>
          </a:p>
        </p:txBody>
      </p:sp>
      <p:sp>
        <p:nvSpPr>
          <p:cNvPr id="8" name="Text 6"/>
          <p:cNvSpPr/>
          <p:nvPr/>
        </p:nvSpPr>
        <p:spPr>
          <a:xfrm>
            <a:off x="4937760" y="1463040"/>
            <a:ext cx="3566160" cy="2560320"/>
          </a:xfrm>
          <a:prstGeom prst="rect">
            <a:avLst/>
          </a:prstGeom>
          <a:noFill/>
          <a:ln/>
        </p:spPr>
        <p:txBody>
          <a:bodyPr wrap="square" rtlCol="0" anchor="t"/>
          <a:lstStyle/>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Citation graph for robust ordering</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PDF full-text analysis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Streamlit/Gradio web UI</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Human evaluation studies</a:t>
            </a:r>
            <a:endParaRPr lang="en-US" sz="1400" dirty="0"/>
          </a:p>
          <a:p>
            <a:pPr marL="342900" indent="-342900">
              <a:spcAft>
                <a:spcPts val="800"/>
              </a:spcAft>
              <a:buSzPct val="100000"/>
              <a:buChar char="•"/>
            </a:pPr>
            <a:r>
              <a:rPr lang="en-US" sz="1400" dirty="0">
                <a:solidFill>
                  <a:srgbClr val="1E293B"/>
                </a:solidFill>
                <a:latin typeface="Calibri" pitchFamily="34" charset="0"/>
                <a:ea typeface="Calibri" pitchFamily="34" charset="-122"/>
                <a:cs typeface="Calibri" pitchFamily="34" charset="-120"/>
              </a:rPr>
              <a:t>Fine-tuned screening model</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1371600"/>
            <a:ext cx="7315200" cy="137160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Live Demo</a:t>
            </a:r>
            <a:endParaRPr lang="en-US" sz="4400" dirty="0"/>
          </a:p>
        </p:txBody>
      </p:sp>
      <p:sp>
        <p:nvSpPr>
          <p:cNvPr id="3" name="Text 1"/>
          <p:cNvSpPr/>
          <p:nvPr/>
        </p:nvSpPr>
        <p:spPr>
          <a:xfrm>
            <a:off x="731520" y="2926080"/>
            <a:ext cx="4572000" cy="548640"/>
          </a:xfrm>
          <a:prstGeom prst="rect">
            <a:avLst/>
          </a:prstGeom>
          <a:noFill/>
          <a:ln/>
        </p:spPr>
        <p:txBody>
          <a:bodyPr wrap="square" rtlCol="0" anchor="ctr"/>
          <a:lstStyle/>
          <a:p>
            <a:pPr indent="0" marL="0">
              <a:buNone/>
            </a:pPr>
            <a:r>
              <a:rPr lang="en-US" sz="2400" dirty="0">
                <a:solidFill>
                  <a:srgbClr val="5EEAD4"/>
                </a:solidFill>
                <a:latin typeface="Consolas" pitchFamily="34" charset="0"/>
                <a:ea typeface="Consolas" pitchFamily="34" charset="-122"/>
                <a:cs typeface="Consolas" pitchFamily="34" charset="-120"/>
              </a:rPr>
              <a:t>python main.py</a:t>
            </a:r>
            <a:endParaRPr lang="en-US" sz="2400" dirty="0"/>
          </a:p>
        </p:txBody>
      </p:sp>
      <p:sp>
        <p:nvSpPr>
          <p:cNvPr id="4" name="Text 2"/>
          <p:cNvSpPr/>
          <p:nvPr/>
        </p:nvSpPr>
        <p:spPr>
          <a:xfrm>
            <a:off x="731520" y="3657600"/>
            <a:ext cx="7315200" cy="457200"/>
          </a:xfrm>
          <a:prstGeom prst="rect">
            <a:avLst/>
          </a:prstGeom>
          <a:noFill/>
          <a:ln/>
        </p:spPr>
        <p:txBody>
          <a:bodyPr wrap="square" rtlCol="0" anchor="ctr"/>
          <a:lstStyle/>
          <a:p>
            <a:pPr indent="0" marL="0">
              <a:buNone/>
            </a:pPr>
            <a:r>
              <a:rPr lang="en-US" sz="1600" dirty="0">
                <a:solidFill>
                  <a:srgbClr val="94A3B8"/>
                </a:solidFill>
                <a:latin typeface="Calibri" pitchFamily="34" charset="0"/>
                <a:ea typeface="Calibri" pitchFamily="34" charset="-122"/>
                <a:cs typeface="Calibri" pitchFamily="34" charset="-120"/>
              </a:rPr>
              <a:t>Topic: "zero-shot learning" → full pipeline in ~55 seconds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457200"/>
            <a:ext cx="7315200" cy="73152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Key Takeaways</a:t>
            </a:r>
            <a:endParaRPr lang="en-US" sz="3200" dirty="0"/>
          </a:p>
        </p:txBody>
      </p:sp>
      <p:sp>
        <p:nvSpPr>
          <p:cNvPr id="3" name="Text 1"/>
          <p:cNvSpPr/>
          <p:nvPr/>
        </p:nvSpPr>
        <p:spPr>
          <a:xfrm>
            <a:off x="731520" y="1280160"/>
            <a:ext cx="7772400" cy="3474720"/>
          </a:xfrm>
          <a:prstGeom prst="rect">
            <a:avLst/>
          </a:prstGeom>
          <a:noFill/>
          <a:ln/>
        </p:spPr>
        <p:txBody>
          <a:bodyPr wrap="square"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1. Multi-agent system that works end-to-end</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 xml:space="preserve">    4 agents + orchestrator + adaptive feedback</a:t>
            </a:r>
            <a:endParaRPr lang="en-US" sz="1600" dirty="0"/>
          </a:p>
          <a:p>
            <a:pPr indent="0" marL="0">
              <a:buNone/>
            </a:pP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2. Learning path is the novel contribution</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 xml:space="preserve">    No existing tool sequences papers by concept dependency</a:t>
            </a:r>
            <a:endParaRPr lang="en-US" sz="1600" dirty="0"/>
          </a:p>
          <a:p>
            <a:pPr indent="0" marL="0">
              <a:buNone/>
            </a:pP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3. Provider-agnostic architecture proved its value</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 xml:space="preserve">    Gemini → Groq in 5 min, zero architectural changes</a:t>
            </a:r>
            <a:endParaRPr lang="en-US" sz="1600" dirty="0"/>
          </a:p>
          <a:p>
            <a:pPr indent="0" marL="0">
              <a:buNone/>
            </a:pP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4. Fault tolerance everywhere</a:t>
            </a:r>
            <a:endParaRPr lang="en-US" sz="1600" dirty="0"/>
          </a:p>
          <a:p>
            <a:pPr indent="0" marL="0">
              <a:buNone/>
            </a:pPr>
            <a:r>
              <a:rPr lang="en-US" sz="1300" dirty="0">
                <a:solidFill>
                  <a:srgbClr val="94A3B8"/>
                </a:solidFill>
                <a:latin typeface="Calibri" pitchFamily="34" charset="0"/>
                <a:ea typeface="Calibri" pitchFamily="34" charset="-122"/>
                <a:cs typeface="Calibri" pitchFamily="34" charset="-120"/>
              </a:rPr>
              <a:t xml:space="preserve">    100% pipeline completion despite API errors &amp; parse failures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731520" y="1371600"/>
            <a:ext cx="7315200" cy="1097280"/>
          </a:xfrm>
          <a:prstGeom prst="rect">
            <a:avLst/>
          </a:prstGeom>
          <a:noFill/>
          <a:ln/>
        </p:spPr>
        <p:txBody>
          <a:bodyPr wrap="square"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731520" y="2560320"/>
            <a:ext cx="7315200" cy="731520"/>
          </a:xfrm>
          <a:prstGeom prst="rect">
            <a:avLst/>
          </a:prstGeom>
          <a:noFill/>
          <a:ln/>
        </p:spPr>
        <p:txBody>
          <a:bodyPr wrap="square" rtlCol="0" anchor="ctr"/>
          <a:lstStyle/>
          <a:p>
            <a:pPr indent="0" marL="0">
              <a:buNone/>
            </a:pPr>
            <a:r>
              <a:rPr lang="en-US" sz="2800" dirty="0">
                <a:solidFill>
                  <a:srgbClr val="5EEAD4"/>
                </a:solidFill>
                <a:latin typeface="Georgia" pitchFamily="34" charset="0"/>
                <a:ea typeface="Georgia" pitchFamily="34" charset="-122"/>
                <a:cs typeface="Georgia" pitchFamily="34" charset="-120"/>
              </a:rPr>
              <a:t>Questions?</a:t>
            </a:r>
            <a:endParaRPr lang="en-US" sz="2800" dirty="0"/>
          </a:p>
        </p:txBody>
      </p:sp>
      <p:sp>
        <p:nvSpPr>
          <p:cNvPr id="4" name="Text 2"/>
          <p:cNvSpPr/>
          <p:nvPr/>
        </p:nvSpPr>
        <p:spPr>
          <a:xfrm>
            <a:off x="731520" y="3657600"/>
            <a:ext cx="73152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GitHub: github.com/rajnishsahani/Agentic-lit-review</a:t>
            </a:r>
            <a:endParaRPr lang="en-US" sz="1400" dirty="0"/>
          </a:p>
        </p:txBody>
      </p:sp>
      <p:sp>
        <p:nvSpPr>
          <p:cNvPr id="5" name="Text 3"/>
          <p:cNvSpPr/>
          <p:nvPr/>
        </p:nvSpPr>
        <p:spPr>
          <a:xfrm>
            <a:off x="731520" y="4114800"/>
            <a:ext cx="7315200" cy="365760"/>
          </a:xfrm>
          <a:prstGeom prst="rect">
            <a:avLst/>
          </a:prstGeom>
          <a:noFill/>
          <a:ln/>
        </p:spPr>
        <p:txBody>
          <a:bodyPr wrap="square" rtlCol="0" anchor="ctr"/>
          <a:lstStyle/>
          <a:p>
            <a:pPr indent="0" marL="0">
              <a:buNone/>
            </a:pPr>
            <a:r>
              <a:rPr lang="en-US" sz="1400" dirty="0">
                <a:solidFill>
                  <a:srgbClr val="94A3B8"/>
                </a:solidFill>
                <a:latin typeface="Calibri" pitchFamily="34" charset="0"/>
                <a:ea typeface="Calibri" pitchFamily="34" charset="-122"/>
                <a:cs typeface="Calibri" pitchFamily="34" charset="-120"/>
              </a:rPr>
              <a:t>Rajnish  ·  Deven  ·  Hangye  ·  Yonghao</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Literature Review &amp; Learning Path Recommendation</dc:title>
  <dc:subject>PptxGenJS Presentation</dc:subject>
  <dc:creator>Rajnish Sahani</dc:creator>
  <cp:lastModifiedBy>Rajnish Sahani</cp:lastModifiedBy>
  <cp:revision>1</cp:revision>
  <dcterms:created xsi:type="dcterms:W3CDTF">2026-04-15T21:02:18Z</dcterms:created>
  <dcterms:modified xsi:type="dcterms:W3CDTF">2026-04-15T21:02:18Z</dcterms:modified>
</cp:coreProperties>
</file>